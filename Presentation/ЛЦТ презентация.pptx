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64" r:id="rId4"/>
    <p:sldId id="265" r:id="rId5"/>
    <p:sldId id="266" r:id="rId6"/>
    <p:sldId id="267" r:id="rId7"/>
    <p:sldId id="270" r:id="rId8"/>
    <p:sldId id="271" r:id="rId9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A6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9"/>
    <p:restoredTop sz="94710"/>
  </p:normalViewPr>
  <p:slideViewPr>
    <p:cSldViewPr snapToGrid="0" showGuides="1">
      <p:cViewPr varScale="1">
        <p:scale>
          <a:sx n="96" d="100"/>
          <a:sy n="96" d="100"/>
        </p:scale>
        <p:origin x="96" y="27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8920-220B-567B-E891-EF897682DD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72729-40B5-86D5-1011-15A6AEB59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136F5-8D5D-00B4-ADEE-24109B7E42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8C5D1-494B-4641-6E27-99627ED63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1423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B390-8F7C-B7A0-6E7A-2BAAFA5BD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A11FE-EF24-23EE-FF55-5A5146E04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193EF-58EB-A2BC-8AE6-1FF9BF994A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DC74E-D50E-90D8-1C47-593829D8D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69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7033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КОМАНДА «ЯЩИК»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01256"/>
            <a:ext cx="7033846" cy="757174"/>
          </a:xfrm>
        </p:spPr>
        <p:txBody>
          <a:bodyPr anchor="ctr">
            <a:normAutofit fontScale="85000" lnSpcReduction="10000"/>
          </a:bodyPr>
          <a:lstStyle/>
          <a:p>
            <a:pPr indent="268288">
              <a:lnSpc>
                <a:spcPct val="150000"/>
              </a:lnSpc>
              <a:defRPr/>
            </a:pPr>
            <a:r>
              <a:rPr lang="ru-RU" dirty="0"/>
              <a:t>Задача №5: Система обнаружения посторонних объектов для беспилотных</a:t>
            </a:r>
            <a:r>
              <a:rPr lang="en-US" dirty="0"/>
              <a:t> </a:t>
            </a:r>
            <a:r>
              <a:rPr lang="ru-RU" dirty="0"/>
              <a:t>поездов в тоннеле метро по данным 3D-лидара</a:t>
            </a:r>
          </a:p>
        </p:txBody>
      </p: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B5976F71-3DFE-CF12-EECD-FE8F6274B6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4824" y="175802"/>
            <a:ext cx="3213415" cy="878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Простота реализации относительно сложных нейросетей</a:t>
            </a:r>
            <a:endParaRPr dirty="0"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Асанов Салим Тимурович, специалист систем управления ЛА.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ru-RU" dirty="0">
                <a:solidFill>
                  <a:schemeClr val="tx1"/>
                </a:solidFill>
              </a:rPr>
              <a:t> человек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dirty="0">
                <a:solidFill>
                  <a:schemeClr val="tx1"/>
                </a:solidFill>
              </a:rPr>
              <a:t>Команда друзей и друзей </a:t>
            </a:r>
            <a:r>
              <a:rPr lang="ru-RU" dirty="0" err="1">
                <a:solidFill>
                  <a:schemeClr val="tx1"/>
                </a:solidFill>
              </a:rPr>
              <a:t>друзей</a:t>
            </a:r>
            <a:r>
              <a:rPr lang="ru-RU" dirty="0">
                <a:solidFill>
                  <a:schemeClr val="tx1"/>
                </a:solidFill>
              </a:rPr>
              <a:t>.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  <a:endParaRPr dirty="0"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</a:t>
            </a:r>
            <a:br>
              <a:rPr lang="ru-RU" sz="2400" dirty="0">
                <a:solidFill>
                  <a:schemeClr val="accent5"/>
                </a:solidFill>
                <a:latin typeface="Montserrat"/>
              </a:rPr>
            </a:br>
            <a:r>
              <a:rPr lang="ru-RU" sz="2400" dirty="0">
                <a:solidFill>
                  <a:schemeClr val="accent5"/>
                </a:solidFill>
                <a:latin typeface="Montserrat"/>
              </a:rPr>
              <a:t>«ЯЩИК»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Все, что вписывается в контур поезда и отличается от пустого тоннеля является препятствием</a:t>
            </a:r>
            <a:endParaRPr dirty="0"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ML </a:t>
            </a:r>
            <a:r>
              <a:rPr lang="en-US" sz="1200" dirty="0" err="1">
                <a:solidFill>
                  <a:schemeClr val="tx1"/>
                </a:solidFill>
              </a:rPr>
              <a:t>Engeneer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chemeClr val="tx1"/>
                </a:solidFill>
              </a:rPr>
              <a:t>@k_y_3_m_u_n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+79966657749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МГТУ им.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Н.Э. Баумана</a:t>
            </a:r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Разработчик </a:t>
            </a:r>
            <a:r>
              <a:rPr lang="en-US" sz="1200" dirty="0" err="1">
                <a:solidFill>
                  <a:srgbClr val="000000"/>
                </a:solidFill>
              </a:rPr>
              <a:t>ROS2</a:t>
            </a:r>
            <a:endParaRPr lang="ru-RU" sz="1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rgbClr val="000000"/>
                </a:solidFill>
              </a:rPr>
              <a:t>@ez_709 </a:t>
            </a:r>
            <a:endParaRPr lang="ru-RU" sz="1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+79104940364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МАИ</a:t>
            </a:r>
            <a:endParaRPr lang="en-US" sz="12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ООО "</a:t>
            </a:r>
            <a:r>
              <a:rPr lang="ru-RU" sz="1200" dirty="0" err="1">
                <a:solidFill>
                  <a:srgbClr val="000000"/>
                </a:solidFill>
              </a:rPr>
              <a:t>МилТех</a:t>
            </a:r>
            <a:r>
              <a:rPr lang="ru-RU" sz="1200" dirty="0">
                <a:solidFill>
                  <a:srgbClr val="000000"/>
                </a:solidFill>
              </a:rPr>
              <a:t>"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Егор Журавлев</a:t>
            </a:r>
            <a:endParaRPr dirty="0"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Разработчик</a:t>
            </a:r>
            <a:r>
              <a:rPr lang="ru-RU" sz="1200" dirty="0">
                <a:solidFill>
                  <a:schemeClr val="tx1"/>
                </a:solidFill>
              </a:rPr>
              <a:t> ПО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@DromoVed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+79165770933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МАИ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«Автономные технологии»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Михаил Кузнецов</a:t>
            </a:r>
            <a:endParaRPr dirty="0"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Системный аналитик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chemeClr val="tx1"/>
                </a:solidFill>
              </a:rPr>
              <a:t>@Sergo_konsales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</a:rPr>
              <a:t>+79102043963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МАИ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ПАО «МИЭА»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Сергей Коновалов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19160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B1635A-A5FA-2309-2021-373D627CBAE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5" b="4655"/>
          <a:stretch>
            <a:fillRect/>
          </a:stretch>
        </p:blipFill>
        <p:spPr bwMode="auto">
          <a:xfrm>
            <a:off x="2886075" y="1827213"/>
            <a:ext cx="1722438" cy="15414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C65D6A-E373-9747-B24E-95DBE5FF459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31" b="19831"/>
          <a:stretch>
            <a:fillRect/>
          </a:stretch>
        </p:blipFill>
        <p:spPr bwMode="auto">
          <a:xfrm>
            <a:off x="5191125" y="1809750"/>
            <a:ext cx="1722438" cy="15589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318B1D-E649-2A76-2729-BEC853D4479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5" b="24545"/>
          <a:stretch>
            <a:fillRect/>
          </a:stretch>
        </p:blipFill>
        <p:spPr bwMode="auto">
          <a:xfrm>
            <a:off x="7519988" y="1809750"/>
            <a:ext cx="1722437" cy="15589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4FFEDD-D057-D98A-FDF4-B71D6A884A7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" b="4747"/>
          <a:stretch>
            <a:fillRect/>
          </a:stretch>
        </p:blipFill>
        <p:spPr bwMode="auto">
          <a:xfrm>
            <a:off x="9802813" y="1809750"/>
            <a:ext cx="1722437" cy="1558925"/>
          </a:xfrm>
          <a:prstGeom prst="rect">
            <a:avLst/>
          </a:prstGeo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«ЯЩИК»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chemeClr val="tx1"/>
                </a:solidFill>
              </a:rPr>
              <a:t>@</a:t>
            </a:r>
            <a:r>
              <a:rPr lang="en" sz="1200" dirty="0" err="1">
                <a:solidFill>
                  <a:schemeClr val="tx1"/>
                </a:solidFill>
              </a:rPr>
              <a:t>kukukuqq</a:t>
            </a:r>
            <a:r>
              <a:rPr lang="en" sz="1200" dirty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+79624741230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МАИ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Салим Асанов </a:t>
            </a:r>
            <a:endParaRPr sz="1600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A654C947-6904-3736-0270-188C01B99109}"/>
              </a:ext>
            </a:extLst>
          </p:cNvPr>
          <p:cNvSpPr txBox="1"/>
          <p:nvPr/>
        </p:nvSpPr>
        <p:spPr bwMode="auto">
          <a:xfrm>
            <a:off x="2909572" y="3631245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Денис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ru-RU" sz="1600" b="1" dirty="0" err="1">
                <a:solidFill>
                  <a:schemeClr val="accent5"/>
                </a:solidFill>
              </a:rPr>
              <a:t>Кузьменок</a:t>
            </a:r>
            <a:endParaRPr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C6DB162-3849-6211-0C24-EDA9A1328B2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878501"/>
            <a:ext cx="1550499" cy="1550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17770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«ЯЩИК»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У нас команда друзей и друзей </a:t>
            </a:r>
            <a:r>
              <a:rPr lang="ru-RU" dirty="0" err="1">
                <a:solidFill>
                  <a:schemeClr val="tx1"/>
                </a:solidFill>
              </a:rPr>
              <a:t>друзей</a:t>
            </a:r>
            <a:r>
              <a:rPr lang="ru-RU" dirty="0">
                <a:solidFill>
                  <a:schemeClr val="tx1"/>
                </a:solidFill>
              </a:rPr>
              <a:t>, частично мы уже участвовали в конкурсах, например, «</a:t>
            </a:r>
            <a:r>
              <a:rPr lang="ru-RU" dirty="0" err="1">
                <a:solidFill>
                  <a:schemeClr val="tx1"/>
                </a:solidFill>
              </a:rPr>
              <a:t>Аэротон</a:t>
            </a:r>
            <a:r>
              <a:rPr lang="ru-RU" dirty="0">
                <a:solidFill>
                  <a:schemeClr val="tx1"/>
                </a:solidFill>
              </a:rPr>
              <a:t>», но в таком составе собрались впервые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Пожалуй, все участники конкурса столкнулись с общей проблемой – нехваткой данных для обучения, поэтому мы стали решать задачу </a:t>
            </a:r>
            <a:r>
              <a:rPr lang="ru-RU" dirty="0" err="1">
                <a:solidFill>
                  <a:schemeClr val="tx1"/>
                </a:solidFill>
              </a:rPr>
              <a:t>алгоритмическо</a:t>
            </a:r>
            <a:r>
              <a:rPr lang="ru-RU" dirty="0">
                <a:solidFill>
                  <a:schemeClr val="tx1"/>
                </a:solidFill>
              </a:rPr>
              <a:t>-геометрически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И, конечно, достаточно сложно было совмещать учебу в вузе/написание диплома с работой и участием в конкурсе)))</a:t>
            </a:r>
            <a:endParaRPr dirty="0"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изучали базовые аспекты компьютерного зрения и машинного обучения в вузе и решили проверить, на что мы способны вне методичек</a:t>
            </a:r>
            <a:endParaRPr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1500" dirty="0">
                <a:solidFill>
                  <a:schemeClr val="tx1"/>
                </a:solidFill>
              </a:rPr>
              <a:t>Философия подхода</a:t>
            </a:r>
          </a:p>
          <a:p>
            <a:pPr>
              <a:defRPr/>
            </a:pPr>
            <a:r>
              <a:rPr lang="ru-RU" sz="1500" dirty="0">
                <a:solidFill>
                  <a:schemeClr val="tx1"/>
                </a:solidFill>
              </a:rPr>
              <a:t>Вместо того чтобы обучать нейросеть распознавать человека, ящик или кошку, мы пошли другим путем: научили систему распознавать «идеальный пустой тоннель». Алгоритм строит математическую модель пути и нормативных габаритов. Все, что вписывается в эту модель, игнорируется. Все, что выходит за ее рамки, считается препятствием. Это делает систему невероятно устойчивой к новым участкам тоннеля.</a:t>
            </a:r>
          </a:p>
          <a:p>
            <a:pPr>
              <a:defRPr/>
            </a:pPr>
            <a:endParaRPr lang="ru-RU" sz="15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500" dirty="0">
                <a:solidFill>
                  <a:schemeClr val="tx1"/>
                </a:solidFill>
              </a:rPr>
              <a:t>Такое решение было принято в связи с тем, что из-за отсутствия размеченных данных обучить модель распознаванию очень сложно и, скорее всего, даже невозможно.</a:t>
            </a:r>
            <a:endParaRPr lang="ru-RU" sz="1500" dirty="0"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500" dirty="0">
                <a:solidFill>
                  <a:schemeClr val="tx1"/>
                </a:solidFill>
              </a:rPr>
              <a:t>Наше решение можно использовать не только по прямому назначению: адаптированное под малые </a:t>
            </a:r>
            <a:r>
              <a:rPr lang="ru-RU" sz="1500" dirty="0" err="1">
                <a:solidFill>
                  <a:schemeClr val="tx1"/>
                </a:solidFill>
              </a:rPr>
              <a:t>БВС</a:t>
            </a:r>
            <a:r>
              <a:rPr lang="ru-RU" sz="1500" dirty="0">
                <a:solidFill>
                  <a:schemeClr val="tx1"/>
                </a:solidFill>
              </a:rPr>
              <a:t> решение, можно применять для поиска людей потерявшихся в пещерах, катакомбах, канализационной сети и т.д.</a:t>
            </a:r>
          </a:p>
          <a:p>
            <a:pPr marL="0" indent="0">
              <a:buNone/>
              <a:defRPr/>
            </a:pPr>
            <a:endParaRPr lang="ru-RU" sz="15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500" dirty="0">
                <a:solidFill>
                  <a:schemeClr val="tx1"/>
                </a:solidFill>
              </a:rPr>
              <a:t>Учитывая физические особенности лидара и сложность съема лидарных данных с реальных маршрутов поездов, мы хотели бы предложить изменить подход к решению задачи: 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  <p:pic>
        <p:nvPicPr>
          <p:cNvPr id="7" name="Рисунок 42">
            <a:extLst>
              <a:ext uri="{FF2B5EF4-FFF2-40B4-BE49-F238E27FC236}">
                <a16:creationId xmlns:a16="http://schemas.microsoft.com/office/drawing/2014/main" id="{CAF9DA92-5C76-4EE0-3283-313303241F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97512" y="304451"/>
            <a:ext cx="304800" cy="304800"/>
          </a:xfrm>
          <a:prstGeom prst="rect">
            <a:avLst/>
          </a:prstGeom>
        </p:spPr>
      </p:pic>
      <p:pic>
        <p:nvPicPr>
          <p:cNvPr id="9" name="Рисунок 44">
            <a:extLst>
              <a:ext uri="{FF2B5EF4-FFF2-40B4-BE49-F238E27FC236}">
                <a16:creationId xmlns:a16="http://schemas.microsoft.com/office/drawing/2014/main" id="{A73F3F99-69C8-5072-664B-735903515A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/>
        </p:blipFill>
        <p:spPr bwMode="auto">
          <a:xfrm>
            <a:off x="9060635" y="4561585"/>
            <a:ext cx="742419" cy="7424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2555CF-C6B3-A8A5-E133-C268AB541E3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60635" y="5346740"/>
            <a:ext cx="742418" cy="742418"/>
          </a:xfrm>
          <a:prstGeom prst="rect">
            <a:avLst/>
          </a:prstGeom>
        </p:spPr>
      </p:pic>
      <p:pic>
        <p:nvPicPr>
          <p:cNvPr id="13" name="Рисунок 1396">
            <a:extLst>
              <a:ext uri="{FF2B5EF4-FFF2-40B4-BE49-F238E27FC236}">
                <a16:creationId xmlns:a16="http://schemas.microsoft.com/office/drawing/2014/main" id="{382B58A9-113B-3B0E-1CAD-B6624D2E16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218123" y="5345994"/>
            <a:ext cx="742420" cy="742420"/>
          </a:xfrm>
          <a:prstGeom prst="rect">
            <a:avLst/>
          </a:prstGeom>
        </p:spPr>
      </p:pic>
      <p:pic>
        <p:nvPicPr>
          <p:cNvPr id="17" name="Рисунок 1418">
            <a:extLst>
              <a:ext uri="{FF2B5EF4-FFF2-40B4-BE49-F238E27FC236}">
                <a16:creationId xmlns:a16="http://schemas.microsoft.com/office/drawing/2014/main" id="{DDD6F807-C365-9353-5224-E0804D817CE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218123" y="4561584"/>
            <a:ext cx="742420" cy="742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Динамическая настройка дальности</a:t>
            </a:r>
          </a:p>
        </p:txBody>
      </p:sp>
      <p:sp>
        <p:nvSpPr>
          <p:cNvPr id="2" name="Текст 6">
            <a:extLst>
              <a:ext uri="{FF2B5EF4-FFF2-40B4-BE49-F238E27FC236}">
                <a16:creationId xmlns:a16="http://schemas.microsoft.com/office/drawing/2014/main" id="{3B129911-36A8-AC06-704C-E422AB1E05F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20700" y="1263650"/>
            <a:ext cx="5575300" cy="49371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chemeClr val="tx1"/>
                </a:solidFill>
              </a:rPr>
              <a:t>Философия масштабирования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800" dirty="0">
                <a:solidFill>
                  <a:schemeClr val="tx1"/>
                </a:solidFill>
              </a:rPr>
              <a:t>Мы получили, что решение работает практически со 100% точностью (на основании имеющихся данных) на всех участках только на расстоянии порядка </a:t>
            </a:r>
            <a:r>
              <a:rPr lang="ru-RU" sz="1800" dirty="0" err="1">
                <a:solidFill>
                  <a:schemeClr val="tx1"/>
                </a:solidFill>
              </a:rPr>
              <a:t>50м</a:t>
            </a:r>
            <a:r>
              <a:rPr lang="ru-RU" sz="1800" dirty="0">
                <a:solidFill>
                  <a:schemeClr val="tx1"/>
                </a:solidFill>
              </a:rPr>
              <a:t>. Поэтому можно попробовать настроить динамический выбор дальности обнаружения: если участок прямой – дальность обнаружения больше, если приближаемся к повороту – уменьшаем дальность обнаружение, на повороте – дальность обнаружения минимальна. Такой подход должен минимизировать количество ложных срабатываний и пропусков препятствий.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032B6F16-791F-1F3E-243C-0B034AE987CF}"/>
              </a:ext>
            </a:extLst>
          </p:cNvPr>
          <p:cNvGrpSpPr/>
          <p:nvPr/>
        </p:nvGrpSpPr>
        <p:grpSpPr>
          <a:xfrm>
            <a:off x="7831229" y="2057400"/>
            <a:ext cx="3205071" cy="3117856"/>
            <a:chOff x="7132729" y="3226522"/>
            <a:chExt cx="671705" cy="667260"/>
          </a:xfrm>
          <a:solidFill>
            <a:schemeClr val="bg1"/>
          </a:solidFill>
        </p:grpSpPr>
        <p:grpSp>
          <p:nvGrpSpPr>
            <p:cNvPr id="15" name="Google Shape;3857;p44">
              <a:extLst>
                <a:ext uri="{FF2B5EF4-FFF2-40B4-BE49-F238E27FC236}">
                  <a16:creationId xmlns:a16="http://schemas.microsoft.com/office/drawing/2014/main" id="{02F5E081-5858-D794-7E1F-12AB0EB92E51}"/>
                </a:ext>
              </a:extLst>
            </p:cNvPr>
            <p:cNvGrpSpPr/>
            <p:nvPr/>
          </p:nvGrpSpPr>
          <p:grpSpPr bwMode="auto">
            <a:xfrm>
              <a:off x="7132729" y="3226526"/>
              <a:ext cx="668839" cy="667256"/>
              <a:chOff x="2637425" y="5179000"/>
              <a:chExt cx="196725" cy="196275"/>
            </a:xfrm>
            <a:grpFill/>
          </p:grpSpPr>
          <p:sp>
            <p:nvSpPr>
              <p:cNvPr id="16" name="Google Shape;3858;p44">
                <a:extLst>
                  <a:ext uri="{FF2B5EF4-FFF2-40B4-BE49-F238E27FC236}">
                    <a16:creationId xmlns:a16="http://schemas.microsoft.com/office/drawing/2014/main" id="{AF8B2254-F9A8-7E8D-B8B4-4AF93954E663}"/>
                  </a:ext>
                </a:extLst>
              </p:cNvPr>
              <p:cNvSpPr/>
              <p:nvPr/>
            </p:nvSpPr>
            <p:spPr bwMode="auto">
              <a:xfrm>
                <a:off x="2639050" y="5248050"/>
                <a:ext cx="353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701" extrusionOk="0">
                    <a:moveTo>
                      <a:pt x="108" y="0"/>
                    </a:moveTo>
                    <a:lnTo>
                      <a:pt x="51" y="224"/>
                    </a:lnTo>
                    <a:cubicBezTo>
                      <a:pt x="29" y="303"/>
                      <a:pt x="7" y="375"/>
                      <a:pt x="0" y="455"/>
                    </a:cubicBezTo>
                    <a:lnTo>
                      <a:pt x="1342" y="700"/>
                    </a:lnTo>
                    <a:cubicBezTo>
                      <a:pt x="1349" y="650"/>
                      <a:pt x="1363" y="599"/>
                      <a:pt x="1378" y="549"/>
                    </a:cubicBezTo>
                    <a:lnTo>
                      <a:pt x="1414" y="397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17" name="Google Shape;3859;p44">
                <a:extLst>
                  <a:ext uri="{FF2B5EF4-FFF2-40B4-BE49-F238E27FC236}">
                    <a16:creationId xmlns:a16="http://schemas.microsoft.com/office/drawing/2014/main" id="{CE6846EB-BB12-0FFC-1B27-A1D18554D76C}"/>
                  </a:ext>
                </a:extLst>
              </p:cNvPr>
              <p:cNvSpPr/>
              <p:nvPr/>
            </p:nvSpPr>
            <p:spPr bwMode="auto">
              <a:xfrm>
                <a:off x="2648425" y="5221550"/>
                <a:ext cx="342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039" extrusionOk="0">
                    <a:moveTo>
                      <a:pt x="245" y="0"/>
                    </a:moveTo>
                    <a:cubicBezTo>
                      <a:pt x="159" y="137"/>
                      <a:pt x="72" y="267"/>
                      <a:pt x="0" y="404"/>
                    </a:cubicBezTo>
                    <a:lnTo>
                      <a:pt x="1219" y="1039"/>
                    </a:lnTo>
                    <a:cubicBezTo>
                      <a:pt x="1262" y="945"/>
                      <a:pt x="1320" y="866"/>
                      <a:pt x="1371" y="772"/>
                    </a:cubicBezTo>
                    <a:lnTo>
                      <a:pt x="24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18" name="Google Shape;3860;p44">
                <a:extLst>
                  <a:ext uri="{FF2B5EF4-FFF2-40B4-BE49-F238E27FC236}">
                    <a16:creationId xmlns:a16="http://schemas.microsoft.com/office/drawing/2014/main" id="{F93EB0A3-3048-11C9-90C7-DD53BF2599DA}"/>
                  </a:ext>
                </a:extLst>
              </p:cNvPr>
              <p:cNvSpPr/>
              <p:nvPr/>
            </p:nvSpPr>
            <p:spPr bwMode="auto">
              <a:xfrm>
                <a:off x="2665725" y="5200075"/>
                <a:ext cx="30150" cy="319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78" extrusionOk="0">
                    <a:moveTo>
                      <a:pt x="347" y="1"/>
                    </a:moveTo>
                    <a:cubicBezTo>
                      <a:pt x="224" y="95"/>
                      <a:pt x="116" y="210"/>
                      <a:pt x="1" y="318"/>
                    </a:cubicBezTo>
                    <a:lnTo>
                      <a:pt x="974" y="1278"/>
                    </a:lnTo>
                    <a:cubicBezTo>
                      <a:pt x="1046" y="1205"/>
                      <a:pt x="1126" y="1133"/>
                      <a:pt x="1205" y="1068"/>
                    </a:cubicBezTo>
                    <a:lnTo>
                      <a:pt x="34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19" name="Google Shape;3861;p44">
                <a:extLst>
                  <a:ext uri="{FF2B5EF4-FFF2-40B4-BE49-F238E27FC236}">
                    <a16:creationId xmlns:a16="http://schemas.microsoft.com/office/drawing/2014/main" id="{3372AEED-0BFC-D6B1-1BBF-A1DC721CD0AA}"/>
                  </a:ext>
                </a:extLst>
              </p:cNvPr>
              <p:cNvSpPr/>
              <p:nvPr/>
            </p:nvSpPr>
            <p:spPr bwMode="auto">
              <a:xfrm>
                <a:off x="2689175" y="5185475"/>
                <a:ext cx="2327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400" extrusionOk="0">
                    <a:moveTo>
                      <a:pt x="426" y="1"/>
                    </a:moveTo>
                    <a:cubicBezTo>
                      <a:pt x="354" y="22"/>
                      <a:pt x="282" y="58"/>
                      <a:pt x="209" y="94"/>
                    </a:cubicBezTo>
                    <a:lnTo>
                      <a:pt x="0" y="195"/>
                    </a:lnTo>
                    <a:lnTo>
                      <a:pt x="649" y="1400"/>
                    </a:lnTo>
                    <a:lnTo>
                      <a:pt x="786" y="1335"/>
                    </a:lnTo>
                    <a:cubicBezTo>
                      <a:pt x="830" y="1306"/>
                      <a:pt x="880" y="1285"/>
                      <a:pt x="931" y="1270"/>
                    </a:cubicBezTo>
                    <a:lnTo>
                      <a:pt x="426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0" name="Google Shape;3862;p44">
                <a:extLst>
                  <a:ext uri="{FF2B5EF4-FFF2-40B4-BE49-F238E27FC236}">
                    <a16:creationId xmlns:a16="http://schemas.microsoft.com/office/drawing/2014/main" id="{CF109172-AC0E-9AD5-EC6F-1EBD164A3CA0}"/>
                  </a:ext>
                </a:extLst>
              </p:cNvPr>
              <p:cNvSpPr/>
              <p:nvPr/>
            </p:nvSpPr>
            <p:spPr bwMode="auto">
              <a:xfrm>
                <a:off x="2716750" y="5179000"/>
                <a:ext cx="1427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00" extrusionOk="0">
                    <a:moveTo>
                      <a:pt x="470" y="0"/>
                    </a:moveTo>
                    <a:cubicBezTo>
                      <a:pt x="390" y="0"/>
                      <a:pt x="311" y="7"/>
                      <a:pt x="239" y="22"/>
                    </a:cubicBezTo>
                    <a:lnTo>
                      <a:pt x="1" y="58"/>
                    </a:lnTo>
                    <a:lnTo>
                      <a:pt x="268" y="1399"/>
                    </a:lnTo>
                    <a:lnTo>
                      <a:pt x="419" y="1378"/>
                    </a:lnTo>
                    <a:cubicBezTo>
                      <a:pt x="470" y="1370"/>
                      <a:pt x="520" y="1363"/>
                      <a:pt x="571" y="1363"/>
                    </a:cubicBezTo>
                    <a:lnTo>
                      <a:pt x="47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1" name="Google Shape;3863;p44">
                <a:extLst>
                  <a:ext uri="{FF2B5EF4-FFF2-40B4-BE49-F238E27FC236}">
                    <a16:creationId xmlns:a16="http://schemas.microsoft.com/office/drawing/2014/main" id="{1AA1FBF5-0897-3559-669F-9EDA583374B1}"/>
                  </a:ext>
                </a:extLst>
              </p:cNvPr>
              <p:cNvSpPr/>
              <p:nvPr/>
            </p:nvSpPr>
            <p:spPr bwMode="auto">
              <a:xfrm>
                <a:off x="2742550" y="5179175"/>
                <a:ext cx="151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1414" extrusionOk="0">
                    <a:moveTo>
                      <a:pt x="144" y="0"/>
                    </a:moveTo>
                    <a:lnTo>
                      <a:pt x="0" y="1356"/>
                    </a:lnTo>
                    <a:cubicBezTo>
                      <a:pt x="101" y="1378"/>
                      <a:pt x="202" y="1385"/>
                      <a:pt x="303" y="1414"/>
                    </a:cubicBezTo>
                    <a:lnTo>
                      <a:pt x="606" y="80"/>
                    </a:lnTo>
                    <a:cubicBezTo>
                      <a:pt x="454" y="36"/>
                      <a:pt x="296" y="22"/>
                      <a:pt x="14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 dirty="0"/>
              </a:p>
            </p:txBody>
          </p:sp>
          <p:sp>
            <p:nvSpPr>
              <p:cNvPr id="22" name="Google Shape;3864;p44">
                <a:extLst>
                  <a:ext uri="{FF2B5EF4-FFF2-40B4-BE49-F238E27FC236}">
                    <a16:creationId xmlns:a16="http://schemas.microsoft.com/office/drawing/2014/main" id="{5F69F9E2-9684-DA5B-F5BE-4E6C86505B1F}"/>
                  </a:ext>
                </a:extLst>
              </p:cNvPr>
              <p:cNvSpPr/>
              <p:nvPr/>
            </p:nvSpPr>
            <p:spPr bwMode="auto">
              <a:xfrm>
                <a:off x="2761100" y="5186550"/>
                <a:ext cx="2402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961" h="1401" extrusionOk="0">
                    <a:moveTo>
                      <a:pt x="542" y="1"/>
                    </a:moveTo>
                    <a:lnTo>
                      <a:pt x="1" y="1256"/>
                    </a:lnTo>
                    <a:lnTo>
                      <a:pt x="138" y="1321"/>
                    </a:lnTo>
                    <a:cubicBezTo>
                      <a:pt x="181" y="1343"/>
                      <a:pt x="232" y="1371"/>
                      <a:pt x="275" y="1400"/>
                    </a:cubicBezTo>
                    <a:lnTo>
                      <a:pt x="960" y="210"/>
                    </a:lnTo>
                    <a:cubicBezTo>
                      <a:pt x="895" y="174"/>
                      <a:pt x="823" y="131"/>
                      <a:pt x="751" y="102"/>
                    </a:cubicBezTo>
                    <a:lnTo>
                      <a:pt x="542" y="1"/>
                    </a:lnTo>
                    <a:close/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3" name="Google Shape;3865;p44">
                <a:extLst>
                  <a:ext uri="{FF2B5EF4-FFF2-40B4-BE49-F238E27FC236}">
                    <a16:creationId xmlns:a16="http://schemas.microsoft.com/office/drawing/2014/main" id="{8523E07E-202B-E7B0-399D-0671C267A30B}"/>
                  </a:ext>
                </a:extLst>
              </p:cNvPr>
              <p:cNvSpPr/>
              <p:nvPr/>
            </p:nvSpPr>
            <p:spPr bwMode="auto">
              <a:xfrm>
                <a:off x="2777350" y="5201900"/>
                <a:ext cx="30675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263" extrusionOk="0">
                    <a:moveTo>
                      <a:pt x="887" y="0"/>
                    </a:moveTo>
                    <a:lnTo>
                      <a:pt x="0" y="1046"/>
                    </a:lnTo>
                    <a:cubicBezTo>
                      <a:pt x="79" y="1111"/>
                      <a:pt x="152" y="1183"/>
                      <a:pt x="224" y="1262"/>
                    </a:cubicBezTo>
                    <a:lnTo>
                      <a:pt x="1226" y="332"/>
                    </a:lnTo>
                    <a:cubicBezTo>
                      <a:pt x="1118" y="209"/>
                      <a:pt x="1003" y="101"/>
                      <a:pt x="887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4" name="Google Shape;3866;p44">
                <a:extLst>
                  <a:ext uri="{FF2B5EF4-FFF2-40B4-BE49-F238E27FC236}">
                    <a16:creationId xmlns:a16="http://schemas.microsoft.com/office/drawing/2014/main" id="{81258456-2613-028F-CA60-91241F7D11B2}"/>
                  </a:ext>
                </a:extLst>
              </p:cNvPr>
              <p:cNvSpPr/>
              <p:nvPr/>
            </p:nvSpPr>
            <p:spPr bwMode="auto">
              <a:xfrm>
                <a:off x="2797525" y="5250925"/>
                <a:ext cx="3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665" extrusionOk="0">
                    <a:moveTo>
                      <a:pt x="1321" y="1"/>
                    </a:moveTo>
                    <a:lnTo>
                      <a:pt x="1" y="361"/>
                    </a:lnTo>
                    <a:lnTo>
                      <a:pt x="44" y="506"/>
                    </a:lnTo>
                    <a:cubicBezTo>
                      <a:pt x="51" y="556"/>
                      <a:pt x="59" y="614"/>
                      <a:pt x="66" y="664"/>
                    </a:cubicBezTo>
                    <a:lnTo>
                      <a:pt x="1422" y="462"/>
                    </a:lnTo>
                    <a:cubicBezTo>
                      <a:pt x="1407" y="383"/>
                      <a:pt x="1400" y="304"/>
                      <a:pt x="1378" y="232"/>
                    </a:cubicBezTo>
                    <a:lnTo>
                      <a:pt x="1321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5" name="Google Shape;3867;p44">
                <a:extLst>
                  <a:ext uri="{FF2B5EF4-FFF2-40B4-BE49-F238E27FC236}">
                    <a16:creationId xmlns:a16="http://schemas.microsoft.com/office/drawing/2014/main" id="{8636E7FF-A517-A44E-1007-F23447364C3A}"/>
                  </a:ext>
                </a:extLst>
              </p:cNvPr>
              <p:cNvSpPr/>
              <p:nvPr/>
            </p:nvSpPr>
            <p:spPr bwMode="auto">
              <a:xfrm>
                <a:off x="2799150" y="5278875"/>
                <a:ext cx="350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513" extrusionOk="0">
                    <a:moveTo>
                      <a:pt x="30" y="1"/>
                    </a:moveTo>
                    <a:cubicBezTo>
                      <a:pt x="30" y="109"/>
                      <a:pt x="15" y="210"/>
                      <a:pt x="1" y="311"/>
                    </a:cubicBezTo>
                    <a:lnTo>
                      <a:pt x="1357" y="513"/>
                    </a:lnTo>
                    <a:cubicBezTo>
                      <a:pt x="1378" y="354"/>
                      <a:pt x="1393" y="203"/>
                      <a:pt x="1400" y="44"/>
                    </a:cubicBezTo>
                    <a:lnTo>
                      <a:pt x="30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6" name="Google Shape;3868;p44">
                <a:extLst>
                  <a:ext uri="{FF2B5EF4-FFF2-40B4-BE49-F238E27FC236}">
                    <a16:creationId xmlns:a16="http://schemas.microsoft.com/office/drawing/2014/main" id="{EEC747A1-DF5D-9474-AB64-24427C10DEEB}"/>
                  </a:ext>
                </a:extLst>
              </p:cNvPr>
              <p:cNvSpPr/>
              <p:nvPr/>
            </p:nvSpPr>
            <p:spPr bwMode="auto">
              <a:xfrm>
                <a:off x="2793575" y="5297825"/>
                <a:ext cx="35350" cy="218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3" extrusionOk="0">
                    <a:moveTo>
                      <a:pt x="123" y="0"/>
                    </a:moveTo>
                    <a:lnTo>
                      <a:pt x="65" y="144"/>
                    </a:lnTo>
                    <a:cubicBezTo>
                      <a:pt x="51" y="195"/>
                      <a:pt x="22" y="238"/>
                      <a:pt x="0" y="281"/>
                    </a:cubicBezTo>
                    <a:lnTo>
                      <a:pt x="1234" y="873"/>
                    </a:lnTo>
                    <a:cubicBezTo>
                      <a:pt x="1270" y="801"/>
                      <a:pt x="1306" y="736"/>
                      <a:pt x="1335" y="664"/>
                    </a:cubicBezTo>
                    <a:lnTo>
                      <a:pt x="1414" y="440"/>
                    </a:lnTo>
                    <a:lnTo>
                      <a:pt x="123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 dirty="0"/>
              </a:p>
            </p:txBody>
          </p:sp>
          <p:sp>
            <p:nvSpPr>
              <p:cNvPr id="27" name="Google Shape;3869;p44">
                <a:extLst>
                  <a:ext uri="{FF2B5EF4-FFF2-40B4-BE49-F238E27FC236}">
                    <a16:creationId xmlns:a16="http://schemas.microsoft.com/office/drawing/2014/main" id="{2CE503AF-F4BC-3AF5-59A8-C192A0B8ADD6}"/>
                  </a:ext>
                </a:extLst>
              </p:cNvPr>
              <p:cNvSpPr/>
              <p:nvPr/>
            </p:nvSpPr>
            <p:spPr bwMode="auto">
              <a:xfrm>
                <a:off x="2782925" y="5314775"/>
                <a:ext cx="3247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169" extrusionOk="0">
                    <a:moveTo>
                      <a:pt x="195" y="0"/>
                    </a:moveTo>
                    <a:lnTo>
                      <a:pt x="102" y="123"/>
                    </a:lnTo>
                    <a:lnTo>
                      <a:pt x="1" y="238"/>
                    </a:lnTo>
                    <a:lnTo>
                      <a:pt x="1003" y="1168"/>
                    </a:lnTo>
                    <a:lnTo>
                      <a:pt x="1155" y="988"/>
                    </a:lnTo>
                    <a:lnTo>
                      <a:pt x="1299" y="801"/>
                    </a:lnTo>
                    <a:lnTo>
                      <a:pt x="19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8" name="Google Shape;3870;p44">
                <a:extLst>
                  <a:ext uri="{FF2B5EF4-FFF2-40B4-BE49-F238E27FC236}">
                    <a16:creationId xmlns:a16="http://schemas.microsoft.com/office/drawing/2014/main" id="{27DFC81E-EF94-D4F4-0993-10A893D070D2}"/>
                  </a:ext>
                </a:extLst>
              </p:cNvPr>
              <p:cNvSpPr/>
              <p:nvPr/>
            </p:nvSpPr>
            <p:spPr bwMode="auto">
              <a:xfrm>
                <a:off x="2767975" y="5328275"/>
                <a:ext cx="26875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357" extrusionOk="0">
                    <a:moveTo>
                      <a:pt x="252" y="1"/>
                    </a:moveTo>
                    <a:cubicBezTo>
                      <a:pt x="209" y="37"/>
                      <a:pt x="173" y="66"/>
                      <a:pt x="130" y="95"/>
                    </a:cubicBezTo>
                    <a:lnTo>
                      <a:pt x="0" y="174"/>
                    </a:lnTo>
                    <a:lnTo>
                      <a:pt x="685" y="1357"/>
                    </a:lnTo>
                    <a:lnTo>
                      <a:pt x="880" y="1234"/>
                    </a:lnTo>
                    <a:cubicBezTo>
                      <a:pt x="952" y="1191"/>
                      <a:pt x="1010" y="1141"/>
                      <a:pt x="1075" y="1097"/>
                    </a:cubicBezTo>
                    <a:lnTo>
                      <a:pt x="252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29" name="Google Shape;3871;p44">
                <a:extLst>
                  <a:ext uri="{FF2B5EF4-FFF2-40B4-BE49-F238E27FC236}">
                    <a16:creationId xmlns:a16="http://schemas.microsoft.com/office/drawing/2014/main" id="{EF0E5E32-C366-EAE0-2C4B-EDD04FE75B78}"/>
                  </a:ext>
                </a:extLst>
              </p:cNvPr>
              <p:cNvSpPr/>
              <p:nvPr/>
            </p:nvSpPr>
            <p:spPr bwMode="auto">
              <a:xfrm>
                <a:off x="2750125" y="5337300"/>
                <a:ext cx="18950" cy="3555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22" extrusionOk="0">
                    <a:moveTo>
                      <a:pt x="296" y="1"/>
                    </a:moveTo>
                    <a:cubicBezTo>
                      <a:pt x="195" y="37"/>
                      <a:pt x="101" y="73"/>
                      <a:pt x="0" y="94"/>
                    </a:cubicBezTo>
                    <a:lnTo>
                      <a:pt x="303" y="1421"/>
                    </a:lnTo>
                    <a:cubicBezTo>
                      <a:pt x="454" y="1393"/>
                      <a:pt x="606" y="1342"/>
                      <a:pt x="757" y="1292"/>
                    </a:cubicBezTo>
                    <a:lnTo>
                      <a:pt x="296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0" name="Google Shape;3872;p44">
                <a:extLst>
                  <a:ext uri="{FF2B5EF4-FFF2-40B4-BE49-F238E27FC236}">
                    <a16:creationId xmlns:a16="http://schemas.microsoft.com/office/drawing/2014/main" id="{E743C57E-4FFF-E94A-386A-265B32BB3F4C}"/>
                  </a:ext>
                </a:extLst>
              </p:cNvPr>
              <p:cNvSpPr/>
              <p:nvPr/>
            </p:nvSpPr>
            <p:spPr bwMode="auto">
              <a:xfrm>
                <a:off x="2728475" y="5340899"/>
                <a:ext cx="11750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375" extrusionOk="0">
                    <a:moveTo>
                      <a:pt x="102" y="1"/>
                    </a:moveTo>
                    <a:lnTo>
                      <a:pt x="1" y="1364"/>
                    </a:lnTo>
                    <a:cubicBezTo>
                      <a:pt x="113" y="1369"/>
                      <a:pt x="221" y="1374"/>
                      <a:pt x="331" y="1374"/>
                    </a:cubicBezTo>
                    <a:cubicBezTo>
                      <a:pt x="377" y="1374"/>
                      <a:pt x="423" y="1373"/>
                      <a:pt x="469" y="1371"/>
                    </a:cubicBezTo>
                    <a:lnTo>
                      <a:pt x="412" y="1"/>
                    </a:lnTo>
                    <a:cubicBezTo>
                      <a:pt x="361" y="4"/>
                      <a:pt x="309" y="6"/>
                      <a:pt x="257" y="6"/>
                    </a:cubicBezTo>
                    <a:cubicBezTo>
                      <a:pt x="204" y="6"/>
                      <a:pt x="152" y="4"/>
                      <a:pt x="10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1" name="Google Shape;3873;p44">
                <a:extLst>
                  <a:ext uri="{FF2B5EF4-FFF2-40B4-BE49-F238E27FC236}">
                    <a16:creationId xmlns:a16="http://schemas.microsoft.com/office/drawing/2014/main" id="{EFF3C28F-D880-8DD2-0A58-62BE0ABBD405}"/>
                  </a:ext>
                </a:extLst>
              </p:cNvPr>
              <p:cNvSpPr/>
              <p:nvPr/>
            </p:nvSpPr>
            <p:spPr bwMode="auto">
              <a:xfrm>
                <a:off x="2699800" y="5336750"/>
                <a:ext cx="1987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415" extrusionOk="0">
                    <a:moveTo>
                      <a:pt x="506" y="1"/>
                    </a:moveTo>
                    <a:lnTo>
                      <a:pt x="1" y="1270"/>
                    </a:lnTo>
                    <a:cubicBezTo>
                      <a:pt x="145" y="1328"/>
                      <a:pt x="296" y="1379"/>
                      <a:pt x="448" y="1415"/>
                    </a:cubicBezTo>
                    <a:lnTo>
                      <a:pt x="794" y="95"/>
                    </a:lnTo>
                    <a:cubicBezTo>
                      <a:pt x="693" y="66"/>
                      <a:pt x="599" y="37"/>
                      <a:pt x="5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2" name="Google Shape;3874;p44">
                <a:extLst>
                  <a:ext uri="{FF2B5EF4-FFF2-40B4-BE49-F238E27FC236}">
                    <a16:creationId xmlns:a16="http://schemas.microsoft.com/office/drawing/2014/main" id="{A87C6426-2DAB-9264-676C-62D6DCBDA6A1}"/>
                  </a:ext>
                </a:extLst>
              </p:cNvPr>
              <p:cNvSpPr/>
              <p:nvPr/>
            </p:nvSpPr>
            <p:spPr bwMode="auto">
              <a:xfrm>
                <a:off x="2674375" y="5327200"/>
                <a:ext cx="27800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3" extrusionOk="0">
                    <a:moveTo>
                      <a:pt x="859" y="1"/>
                    </a:moveTo>
                    <a:lnTo>
                      <a:pt x="1" y="1068"/>
                    </a:lnTo>
                    <a:cubicBezTo>
                      <a:pt x="123" y="1169"/>
                      <a:pt x="253" y="1256"/>
                      <a:pt x="390" y="1342"/>
                    </a:cubicBezTo>
                    <a:lnTo>
                      <a:pt x="1112" y="174"/>
                    </a:lnTo>
                    <a:cubicBezTo>
                      <a:pt x="1018" y="123"/>
                      <a:pt x="938" y="66"/>
                      <a:pt x="859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3" name="Google Shape;3875;p44">
                <a:extLst>
                  <a:ext uri="{FF2B5EF4-FFF2-40B4-BE49-F238E27FC236}">
                    <a16:creationId xmlns:a16="http://schemas.microsoft.com/office/drawing/2014/main" id="{415F0CBD-DEFD-4F6A-2C92-8CC1797F9BA2}"/>
                  </a:ext>
                </a:extLst>
              </p:cNvPr>
              <p:cNvSpPr/>
              <p:nvPr/>
            </p:nvSpPr>
            <p:spPr bwMode="auto">
              <a:xfrm>
                <a:off x="2654550" y="5313150"/>
                <a:ext cx="33025" cy="28674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147" extrusionOk="0">
                    <a:moveTo>
                      <a:pt x="1126" y="0"/>
                    </a:moveTo>
                    <a:lnTo>
                      <a:pt x="0" y="772"/>
                    </a:lnTo>
                    <a:lnTo>
                      <a:pt x="137" y="959"/>
                    </a:lnTo>
                    <a:lnTo>
                      <a:pt x="210" y="1053"/>
                    </a:lnTo>
                    <a:lnTo>
                      <a:pt x="289" y="1147"/>
                    </a:lnTo>
                    <a:lnTo>
                      <a:pt x="1320" y="245"/>
                    </a:lnTo>
                    <a:lnTo>
                      <a:pt x="1263" y="188"/>
                    </a:lnTo>
                    <a:lnTo>
                      <a:pt x="1219" y="123"/>
                    </a:lnTo>
                    <a:lnTo>
                      <a:pt x="1126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4" name="Google Shape;3876;p44">
                <a:extLst>
                  <a:ext uri="{FF2B5EF4-FFF2-40B4-BE49-F238E27FC236}">
                    <a16:creationId xmlns:a16="http://schemas.microsoft.com/office/drawing/2014/main" id="{064E591F-9817-26A5-CEBF-E2B31CECD510}"/>
                  </a:ext>
                </a:extLst>
              </p:cNvPr>
              <p:cNvSpPr/>
              <p:nvPr/>
            </p:nvSpPr>
            <p:spPr bwMode="auto">
              <a:xfrm>
                <a:off x="2641750" y="5296000"/>
                <a:ext cx="35350" cy="211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45" extrusionOk="0">
                    <a:moveTo>
                      <a:pt x="1306" y="1"/>
                    </a:moveTo>
                    <a:lnTo>
                      <a:pt x="0" y="405"/>
                    </a:lnTo>
                    <a:cubicBezTo>
                      <a:pt x="51" y="549"/>
                      <a:pt x="101" y="701"/>
                      <a:pt x="166" y="845"/>
                    </a:cubicBezTo>
                    <a:lnTo>
                      <a:pt x="1414" y="282"/>
                    </a:lnTo>
                    <a:cubicBezTo>
                      <a:pt x="1371" y="196"/>
                      <a:pt x="1342" y="95"/>
                      <a:pt x="13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5" name="Google Shape;3877;p44">
                <a:extLst>
                  <a:ext uri="{FF2B5EF4-FFF2-40B4-BE49-F238E27FC236}">
                    <a16:creationId xmlns:a16="http://schemas.microsoft.com/office/drawing/2014/main" id="{874AC866-EC08-9CB1-69FD-D5409585C113}"/>
                  </a:ext>
                </a:extLst>
              </p:cNvPr>
              <p:cNvSpPr/>
              <p:nvPr/>
            </p:nvSpPr>
            <p:spPr bwMode="auto">
              <a:xfrm>
                <a:off x="2637425" y="5277075"/>
                <a:ext cx="3465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470" extrusionOk="0">
                    <a:moveTo>
                      <a:pt x="0" y="1"/>
                    </a:moveTo>
                    <a:cubicBezTo>
                      <a:pt x="7" y="152"/>
                      <a:pt x="7" y="311"/>
                      <a:pt x="29" y="469"/>
                    </a:cubicBezTo>
                    <a:lnTo>
                      <a:pt x="1385" y="304"/>
                    </a:lnTo>
                    <a:cubicBezTo>
                      <a:pt x="1371" y="203"/>
                      <a:pt x="1378" y="102"/>
                      <a:pt x="136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6" name="Google Shape;3878;p44">
                <a:extLst>
                  <a:ext uri="{FF2B5EF4-FFF2-40B4-BE49-F238E27FC236}">
                    <a16:creationId xmlns:a16="http://schemas.microsoft.com/office/drawing/2014/main" id="{4A1254EC-5417-9A8F-EABD-0C38E00D20EC}"/>
                  </a:ext>
                </a:extLst>
              </p:cNvPr>
              <p:cNvSpPr/>
              <p:nvPr/>
            </p:nvSpPr>
            <p:spPr bwMode="auto">
              <a:xfrm>
                <a:off x="2789950" y="5224075"/>
                <a:ext cx="344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003" extrusionOk="0">
                    <a:moveTo>
                      <a:pt x="1155" y="0"/>
                    </a:moveTo>
                    <a:lnTo>
                      <a:pt x="1" y="736"/>
                    </a:lnTo>
                    <a:lnTo>
                      <a:pt x="80" y="866"/>
                    </a:lnTo>
                    <a:cubicBezTo>
                      <a:pt x="102" y="909"/>
                      <a:pt x="131" y="959"/>
                      <a:pt x="145" y="1003"/>
                    </a:cubicBezTo>
                    <a:lnTo>
                      <a:pt x="1379" y="411"/>
                    </a:lnTo>
                    <a:cubicBezTo>
                      <a:pt x="1342" y="339"/>
                      <a:pt x="1314" y="267"/>
                      <a:pt x="1278" y="202"/>
                    </a:cubicBezTo>
                    <a:lnTo>
                      <a:pt x="115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7" name="Google Shape;3879;p44">
                <a:extLst>
                  <a:ext uri="{FF2B5EF4-FFF2-40B4-BE49-F238E27FC236}">
                    <a16:creationId xmlns:a16="http://schemas.microsoft.com/office/drawing/2014/main" id="{51AAFAF8-44A0-B036-833D-BED99C53E242}"/>
                  </a:ext>
                </a:extLst>
              </p:cNvPr>
              <p:cNvSpPr/>
              <p:nvPr/>
            </p:nvSpPr>
            <p:spPr bwMode="auto">
              <a:xfrm>
                <a:off x="2719450" y="5260674"/>
                <a:ext cx="32675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306" extrusionOk="0">
                    <a:moveTo>
                      <a:pt x="657" y="0"/>
                    </a:moveTo>
                    <a:cubicBezTo>
                      <a:pt x="297" y="0"/>
                      <a:pt x="1" y="296"/>
                      <a:pt x="1" y="657"/>
                    </a:cubicBezTo>
                    <a:cubicBezTo>
                      <a:pt x="1" y="1017"/>
                      <a:pt x="297" y="1306"/>
                      <a:pt x="657" y="1306"/>
                    </a:cubicBezTo>
                    <a:cubicBezTo>
                      <a:pt x="1018" y="1306"/>
                      <a:pt x="1306" y="1017"/>
                      <a:pt x="1306" y="657"/>
                    </a:cubicBezTo>
                    <a:cubicBezTo>
                      <a:pt x="1306" y="296"/>
                      <a:pt x="1018" y="0"/>
                      <a:pt x="657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  <p:grpSp>
          <p:nvGrpSpPr>
            <p:cNvPr id="38" name="Google Shape;3857;p44">
              <a:extLst>
                <a:ext uri="{FF2B5EF4-FFF2-40B4-BE49-F238E27FC236}">
                  <a16:creationId xmlns:a16="http://schemas.microsoft.com/office/drawing/2014/main" id="{01BD15E6-D87A-44D8-F8EA-BC8D10207186}"/>
                </a:ext>
              </a:extLst>
            </p:cNvPr>
            <p:cNvGrpSpPr/>
            <p:nvPr/>
          </p:nvGrpSpPr>
          <p:grpSpPr bwMode="auto">
            <a:xfrm rot="516666">
              <a:off x="7135595" y="3226522"/>
              <a:ext cx="668839" cy="667256"/>
              <a:chOff x="2637425" y="5179000"/>
              <a:chExt cx="196725" cy="196275"/>
            </a:xfrm>
            <a:grpFill/>
          </p:grpSpPr>
          <p:sp>
            <p:nvSpPr>
              <p:cNvPr id="39" name="Google Shape;3858;p44">
                <a:extLst>
                  <a:ext uri="{FF2B5EF4-FFF2-40B4-BE49-F238E27FC236}">
                    <a16:creationId xmlns:a16="http://schemas.microsoft.com/office/drawing/2014/main" id="{C8EF2C0F-A013-1232-0A00-D22E19A82B31}"/>
                  </a:ext>
                </a:extLst>
              </p:cNvPr>
              <p:cNvSpPr/>
              <p:nvPr/>
            </p:nvSpPr>
            <p:spPr bwMode="auto">
              <a:xfrm>
                <a:off x="2639050" y="5248050"/>
                <a:ext cx="353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701" extrusionOk="0">
                    <a:moveTo>
                      <a:pt x="108" y="0"/>
                    </a:moveTo>
                    <a:lnTo>
                      <a:pt x="51" y="224"/>
                    </a:lnTo>
                    <a:cubicBezTo>
                      <a:pt x="29" y="303"/>
                      <a:pt x="7" y="375"/>
                      <a:pt x="0" y="455"/>
                    </a:cubicBezTo>
                    <a:lnTo>
                      <a:pt x="1342" y="700"/>
                    </a:lnTo>
                    <a:cubicBezTo>
                      <a:pt x="1349" y="650"/>
                      <a:pt x="1363" y="599"/>
                      <a:pt x="1378" y="549"/>
                    </a:cubicBezTo>
                    <a:lnTo>
                      <a:pt x="1414" y="397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0" name="Google Shape;3859;p44">
                <a:extLst>
                  <a:ext uri="{FF2B5EF4-FFF2-40B4-BE49-F238E27FC236}">
                    <a16:creationId xmlns:a16="http://schemas.microsoft.com/office/drawing/2014/main" id="{8CD83628-CCEF-0C16-CA7A-819A1DA31189}"/>
                  </a:ext>
                </a:extLst>
              </p:cNvPr>
              <p:cNvSpPr/>
              <p:nvPr/>
            </p:nvSpPr>
            <p:spPr bwMode="auto">
              <a:xfrm>
                <a:off x="2648425" y="5221550"/>
                <a:ext cx="342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039" extrusionOk="0">
                    <a:moveTo>
                      <a:pt x="245" y="0"/>
                    </a:moveTo>
                    <a:cubicBezTo>
                      <a:pt x="159" y="137"/>
                      <a:pt x="72" y="267"/>
                      <a:pt x="0" y="404"/>
                    </a:cubicBezTo>
                    <a:lnTo>
                      <a:pt x="1219" y="1039"/>
                    </a:lnTo>
                    <a:cubicBezTo>
                      <a:pt x="1262" y="945"/>
                      <a:pt x="1320" y="866"/>
                      <a:pt x="1371" y="772"/>
                    </a:cubicBezTo>
                    <a:lnTo>
                      <a:pt x="24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1" name="Google Shape;3860;p44">
                <a:extLst>
                  <a:ext uri="{FF2B5EF4-FFF2-40B4-BE49-F238E27FC236}">
                    <a16:creationId xmlns:a16="http://schemas.microsoft.com/office/drawing/2014/main" id="{EEEFD533-93B5-5440-E6A5-4BE574A1B2FE}"/>
                  </a:ext>
                </a:extLst>
              </p:cNvPr>
              <p:cNvSpPr/>
              <p:nvPr/>
            </p:nvSpPr>
            <p:spPr bwMode="auto">
              <a:xfrm>
                <a:off x="2665725" y="5200075"/>
                <a:ext cx="30150" cy="319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78" extrusionOk="0">
                    <a:moveTo>
                      <a:pt x="347" y="1"/>
                    </a:moveTo>
                    <a:cubicBezTo>
                      <a:pt x="224" y="95"/>
                      <a:pt x="116" y="210"/>
                      <a:pt x="1" y="318"/>
                    </a:cubicBezTo>
                    <a:lnTo>
                      <a:pt x="974" y="1278"/>
                    </a:lnTo>
                    <a:cubicBezTo>
                      <a:pt x="1046" y="1205"/>
                      <a:pt x="1126" y="1133"/>
                      <a:pt x="1205" y="1068"/>
                    </a:cubicBezTo>
                    <a:lnTo>
                      <a:pt x="34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2" name="Google Shape;3861;p44">
                <a:extLst>
                  <a:ext uri="{FF2B5EF4-FFF2-40B4-BE49-F238E27FC236}">
                    <a16:creationId xmlns:a16="http://schemas.microsoft.com/office/drawing/2014/main" id="{682E1A20-1AAB-D9DB-42F6-8A8EEF47CCE4}"/>
                  </a:ext>
                </a:extLst>
              </p:cNvPr>
              <p:cNvSpPr/>
              <p:nvPr/>
            </p:nvSpPr>
            <p:spPr bwMode="auto">
              <a:xfrm>
                <a:off x="2689175" y="5185475"/>
                <a:ext cx="2327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400" extrusionOk="0">
                    <a:moveTo>
                      <a:pt x="426" y="1"/>
                    </a:moveTo>
                    <a:cubicBezTo>
                      <a:pt x="354" y="22"/>
                      <a:pt x="282" y="58"/>
                      <a:pt x="209" y="94"/>
                    </a:cubicBezTo>
                    <a:lnTo>
                      <a:pt x="0" y="195"/>
                    </a:lnTo>
                    <a:lnTo>
                      <a:pt x="649" y="1400"/>
                    </a:lnTo>
                    <a:lnTo>
                      <a:pt x="786" y="1335"/>
                    </a:lnTo>
                    <a:cubicBezTo>
                      <a:pt x="830" y="1306"/>
                      <a:pt x="880" y="1285"/>
                      <a:pt x="931" y="1270"/>
                    </a:cubicBezTo>
                    <a:lnTo>
                      <a:pt x="426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3" name="Google Shape;3862;p44">
                <a:extLst>
                  <a:ext uri="{FF2B5EF4-FFF2-40B4-BE49-F238E27FC236}">
                    <a16:creationId xmlns:a16="http://schemas.microsoft.com/office/drawing/2014/main" id="{7FAEED37-5E02-9541-79C3-35DE3D2CC55F}"/>
                  </a:ext>
                </a:extLst>
              </p:cNvPr>
              <p:cNvSpPr/>
              <p:nvPr/>
            </p:nvSpPr>
            <p:spPr bwMode="auto">
              <a:xfrm>
                <a:off x="2716750" y="5179000"/>
                <a:ext cx="1427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00" extrusionOk="0">
                    <a:moveTo>
                      <a:pt x="470" y="0"/>
                    </a:moveTo>
                    <a:cubicBezTo>
                      <a:pt x="390" y="0"/>
                      <a:pt x="311" y="7"/>
                      <a:pt x="239" y="22"/>
                    </a:cubicBezTo>
                    <a:lnTo>
                      <a:pt x="1" y="58"/>
                    </a:lnTo>
                    <a:lnTo>
                      <a:pt x="268" y="1399"/>
                    </a:lnTo>
                    <a:lnTo>
                      <a:pt x="419" y="1378"/>
                    </a:lnTo>
                    <a:cubicBezTo>
                      <a:pt x="470" y="1370"/>
                      <a:pt x="520" y="1363"/>
                      <a:pt x="571" y="1363"/>
                    </a:cubicBezTo>
                    <a:lnTo>
                      <a:pt x="47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4" name="Google Shape;3863;p44">
                <a:extLst>
                  <a:ext uri="{FF2B5EF4-FFF2-40B4-BE49-F238E27FC236}">
                    <a16:creationId xmlns:a16="http://schemas.microsoft.com/office/drawing/2014/main" id="{028B496C-A362-570C-1E5F-F4352F76CBB4}"/>
                  </a:ext>
                </a:extLst>
              </p:cNvPr>
              <p:cNvSpPr/>
              <p:nvPr/>
            </p:nvSpPr>
            <p:spPr bwMode="auto">
              <a:xfrm>
                <a:off x="2742550" y="5179175"/>
                <a:ext cx="151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1414" extrusionOk="0">
                    <a:moveTo>
                      <a:pt x="144" y="0"/>
                    </a:moveTo>
                    <a:lnTo>
                      <a:pt x="0" y="1356"/>
                    </a:lnTo>
                    <a:cubicBezTo>
                      <a:pt x="101" y="1378"/>
                      <a:pt x="202" y="1385"/>
                      <a:pt x="303" y="1414"/>
                    </a:cubicBezTo>
                    <a:lnTo>
                      <a:pt x="606" y="80"/>
                    </a:lnTo>
                    <a:cubicBezTo>
                      <a:pt x="454" y="36"/>
                      <a:pt x="296" y="22"/>
                      <a:pt x="14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 dirty="0">
                  <a:ln>
                    <a:solidFill>
                      <a:schemeClr val="accent2">
                        <a:lumMod val="50000"/>
                      </a:schemeClr>
                    </a:solidFill>
                  </a:ln>
                  <a:solidFill>
                    <a:srgbClr val="00B050"/>
                  </a:solidFill>
                </a:endParaRPr>
              </a:p>
            </p:txBody>
          </p:sp>
          <p:sp>
            <p:nvSpPr>
              <p:cNvPr id="45" name="Google Shape;3864;p44">
                <a:extLst>
                  <a:ext uri="{FF2B5EF4-FFF2-40B4-BE49-F238E27FC236}">
                    <a16:creationId xmlns:a16="http://schemas.microsoft.com/office/drawing/2014/main" id="{44C5BDCF-B81B-6B9D-283A-7803B84A075B}"/>
                  </a:ext>
                </a:extLst>
              </p:cNvPr>
              <p:cNvSpPr/>
              <p:nvPr/>
            </p:nvSpPr>
            <p:spPr bwMode="auto">
              <a:xfrm>
                <a:off x="2761100" y="5186550"/>
                <a:ext cx="2402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961" h="1401" extrusionOk="0">
                    <a:moveTo>
                      <a:pt x="542" y="1"/>
                    </a:moveTo>
                    <a:lnTo>
                      <a:pt x="1" y="1256"/>
                    </a:lnTo>
                    <a:lnTo>
                      <a:pt x="138" y="1321"/>
                    </a:lnTo>
                    <a:cubicBezTo>
                      <a:pt x="181" y="1343"/>
                      <a:pt x="232" y="1371"/>
                      <a:pt x="275" y="1400"/>
                    </a:cubicBezTo>
                    <a:lnTo>
                      <a:pt x="960" y="210"/>
                    </a:lnTo>
                    <a:cubicBezTo>
                      <a:pt x="895" y="174"/>
                      <a:pt x="823" y="131"/>
                      <a:pt x="751" y="102"/>
                    </a:cubicBezTo>
                    <a:lnTo>
                      <a:pt x="542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6" name="Google Shape;3865;p44">
                <a:extLst>
                  <a:ext uri="{FF2B5EF4-FFF2-40B4-BE49-F238E27FC236}">
                    <a16:creationId xmlns:a16="http://schemas.microsoft.com/office/drawing/2014/main" id="{A77583A5-2430-5CDB-DB23-349BBABCB327}"/>
                  </a:ext>
                </a:extLst>
              </p:cNvPr>
              <p:cNvSpPr/>
              <p:nvPr/>
            </p:nvSpPr>
            <p:spPr bwMode="auto">
              <a:xfrm>
                <a:off x="2777350" y="5201900"/>
                <a:ext cx="30675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263" extrusionOk="0">
                    <a:moveTo>
                      <a:pt x="887" y="0"/>
                    </a:moveTo>
                    <a:lnTo>
                      <a:pt x="0" y="1046"/>
                    </a:lnTo>
                    <a:cubicBezTo>
                      <a:pt x="79" y="1111"/>
                      <a:pt x="152" y="1183"/>
                      <a:pt x="224" y="1262"/>
                    </a:cubicBezTo>
                    <a:lnTo>
                      <a:pt x="1226" y="332"/>
                    </a:lnTo>
                    <a:cubicBezTo>
                      <a:pt x="1118" y="209"/>
                      <a:pt x="1003" y="101"/>
                      <a:pt x="887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7" name="Google Shape;3866;p44">
                <a:extLst>
                  <a:ext uri="{FF2B5EF4-FFF2-40B4-BE49-F238E27FC236}">
                    <a16:creationId xmlns:a16="http://schemas.microsoft.com/office/drawing/2014/main" id="{DB08E957-680E-7F5B-EEAE-D1CF37345812}"/>
                  </a:ext>
                </a:extLst>
              </p:cNvPr>
              <p:cNvSpPr/>
              <p:nvPr/>
            </p:nvSpPr>
            <p:spPr bwMode="auto">
              <a:xfrm>
                <a:off x="2797525" y="5250925"/>
                <a:ext cx="3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665" extrusionOk="0">
                    <a:moveTo>
                      <a:pt x="1321" y="1"/>
                    </a:moveTo>
                    <a:lnTo>
                      <a:pt x="1" y="361"/>
                    </a:lnTo>
                    <a:lnTo>
                      <a:pt x="44" y="506"/>
                    </a:lnTo>
                    <a:cubicBezTo>
                      <a:pt x="51" y="556"/>
                      <a:pt x="59" y="614"/>
                      <a:pt x="66" y="664"/>
                    </a:cubicBezTo>
                    <a:lnTo>
                      <a:pt x="1422" y="462"/>
                    </a:lnTo>
                    <a:cubicBezTo>
                      <a:pt x="1407" y="383"/>
                      <a:pt x="1400" y="304"/>
                      <a:pt x="1378" y="232"/>
                    </a:cubicBezTo>
                    <a:lnTo>
                      <a:pt x="1321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8" name="Google Shape;3867;p44">
                <a:extLst>
                  <a:ext uri="{FF2B5EF4-FFF2-40B4-BE49-F238E27FC236}">
                    <a16:creationId xmlns:a16="http://schemas.microsoft.com/office/drawing/2014/main" id="{C1B5E4E8-26B0-CEBF-DD71-AD55D306BDE4}"/>
                  </a:ext>
                </a:extLst>
              </p:cNvPr>
              <p:cNvSpPr/>
              <p:nvPr/>
            </p:nvSpPr>
            <p:spPr bwMode="auto">
              <a:xfrm>
                <a:off x="2799150" y="5278875"/>
                <a:ext cx="350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513" extrusionOk="0">
                    <a:moveTo>
                      <a:pt x="30" y="1"/>
                    </a:moveTo>
                    <a:cubicBezTo>
                      <a:pt x="30" y="109"/>
                      <a:pt x="15" y="210"/>
                      <a:pt x="1" y="311"/>
                    </a:cubicBezTo>
                    <a:lnTo>
                      <a:pt x="1357" y="513"/>
                    </a:lnTo>
                    <a:cubicBezTo>
                      <a:pt x="1378" y="354"/>
                      <a:pt x="1393" y="203"/>
                      <a:pt x="1400" y="44"/>
                    </a:cubicBezTo>
                    <a:lnTo>
                      <a:pt x="30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9" name="Google Shape;3868;p44">
                <a:extLst>
                  <a:ext uri="{FF2B5EF4-FFF2-40B4-BE49-F238E27FC236}">
                    <a16:creationId xmlns:a16="http://schemas.microsoft.com/office/drawing/2014/main" id="{9C7EAAD4-CC92-41CD-8F73-E01097A3727A}"/>
                  </a:ext>
                </a:extLst>
              </p:cNvPr>
              <p:cNvSpPr/>
              <p:nvPr/>
            </p:nvSpPr>
            <p:spPr bwMode="auto">
              <a:xfrm>
                <a:off x="2793575" y="5297825"/>
                <a:ext cx="35350" cy="218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3" extrusionOk="0">
                    <a:moveTo>
                      <a:pt x="123" y="0"/>
                    </a:moveTo>
                    <a:lnTo>
                      <a:pt x="65" y="144"/>
                    </a:lnTo>
                    <a:cubicBezTo>
                      <a:pt x="51" y="195"/>
                      <a:pt x="22" y="238"/>
                      <a:pt x="0" y="281"/>
                    </a:cubicBezTo>
                    <a:lnTo>
                      <a:pt x="1234" y="873"/>
                    </a:lnTo>
                    <a:cubicBezTo>
                      <a:pt x="1270" y="801"/>
                      <a:pt x="1306" y="736"/>
                      <a:pt x="1335" y="664"/>
                    </a:cubicBezTo>
                    <a:lnTo>
                      <a:pt x="1414" y="440"/>
                    </a:lnTo>
                    <a:lnTo>
                      <a:pt x="123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 dirty="0"/>
              </a:p>
            </p:txBody>
          </p:sp>
          <p:sp>
            <p:nvSpPr>
              <p:cNvPr id="50" name="Google Shape;3869;p44">
                <a:extLst>
                  <a:ext uri="{FF2B5EF4-FFF2-40B4-BE49-F238E27FC236}">
                    <a16:creationId xmlns:a16="http://schemas.microsoft.com/office/drawing/2014/main" id="{63F74A8D-8C36-34C2-C37D-1378A2349DAC}"/>
                  </a:ext>
                </a:extLst>
              </p:cNvPr>
              <p:cNvSpPr/>
              <p:nvPr/>
            </p:nvSpPr>
            <p:spPr bwMode="auto">
              <a:xfrm>
                <a:off x="2782925" y="5314775"/>
                <a:ext cx="3247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169" extrusionOk="0">
                    <a:moveTo>
                      <a:pt x="195" y="0"/>
                    </a:moveTo>
                    <a:lnTo>
                      <a:pt x="102" y="123"/>
                    </a:lnTo>
                    <a:lnTo>
                      <a:pt x="1" y="238"/>
                    </a:lnTo>
                    <a:lnTo>
                      <a:pt x="1003" y="1168"/>
                    </a:lnTo>
                    <a:lnTo>
                      <a:pt x="1155" y="988"/>
                    </a:lnTo>
                    <a:lnTo>
                      <a:pt x="1299" y="801"/>
                    </a:lnTo>
                    <a:lnTo>
                      <a:pt x="19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1" name="Google Shape;3870;p44">
                <a:extLst>
                  <a:ext uri="{FF2B5EF4-FFF2-40B4-BE49-F238E27FC236}">
                    <a16:creationId xmlns:a16="http://schemas.microsoft.com/office/drawing/2014/main" id="{DAB7E53D-F481-0ACA-8868-146C95694F57}"/>
                  </a:ext>
                </a:extLst>
              </p:cNvPr>
              <p:cNvSpPr/>
              <p:nvPr/>
            </p:nvSpPr>
            <p:spPr bwMode="auto">
              <a:xfrm>
                <a:off x="2767975" y="5328275"/>
                <a:ext cx="26875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357" extrusionOk="0">
                    <a:moveTo>
                      <a:pt x="252" y="1"/>
                    </a:moveTo>
                    <a:cubicBezTo>
                      <a:pt x="209" y="37"/>
                      <a:pt x="173" y="66"/>
                      <a:pt x="130" y="95"/>
                    </a:cubicBezTo>
                    <a:lnTo>
                      <a:pt x="0" y="174"/>
                    </a:lnTo>
                    <a:lnTo>
                      <a:pt x="685" y="1357"/>
                    </a:lnTo>
                    <a:lnTo>
                      <a:pt x="880" y="1234"/>
                    </a:lnTo>
                    <a:cubicBezTo>
                      <a:pt x="952" y="1191"/>
                      <a:pt x="1010" y="1141"/>
                      <a:pt x="1075" y="1097"/>
                    </a:cubicBezTo>
                    <a:lnTo>
                      <a:pt x="252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2" name="Google Shape;3871;p44">
                <a:extLst>
                  <a:ext uri="{FF2B5EF4-FFF2-40B4-BE49-F238E27FC236}">
                    <a16:creationId xmlns:a16="http://schemas.microsoft.com/office/drawing/2014/main" id="{FFE0F50B-493A-4216-5828-5013F292AB5A}"/>
                  </a:ext>
                </a:extLst>
              </p:cNvPr>
              <p:cNvSpPr/>
              <p:nvPr/>
            </p:nvSpPr>
            <p:spPr bwMode="auto">
              <a:xfrm>
                <a:off x="2750125" y="5337300"/>
                <a:ext cx="18950" cy="3555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22" extrusionOk="0">
                    <a:moveTo>
                      <a:pt x="296" y="1"/>
                    </a:moveTo>
                    <a:cubicBezTo>
                      <a:pt x="195" y="37"/>
                      <a:pt x="101" y="73"/>
                      <a:pt x="0" y="94"/>
                    </a:cubicBezTo>
                    <a:lnTo>
                      <a:pt x="303" y="1421"/>
                    </a:lnTo>
                    <a:cubicBezTo>
                      <a:pt x="454" y="1393"/>
                      <a:pt x="606" y="1342"/>
                      <a:pt x="757" y="1292"/>
                    </a:cubicBezTo>
                    <a:lnTo>
                      <a:pt x="296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3" name="Google Shape;3872;p44">
                <a:extLst>
                  <a:ext uri="{FF2B5EF4-FFF2-40B4-BE49-F238E27FC236}">
                    <a16:creationId xmlns:a16="http://schemas.microsoft.com/office/drawing/2014/main" id="{D398E776-B15E-8648-74CE-2D0B41C493B6}"/>
                  </a:ext>
                </a:extLst>
              </p:cNvPr>
              <p:cNvSpPr/>
              <p:nvPr/>
            </p:nvSpPr>
            <p:spPr bwMode="auto">
              <a:xfrm>
                <a:off x="2728475" y="5340899"/>
                <a:ext cx="11750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375" extrusionOk="0">
                    <a:moveTo>
                      <a:pt x="102" y="1"/>
                    </a:moveTo>
                    <a:lnTo>
                      <a:pt x="1" y="1364"/>
                    </a:lnTo>
                    <a:cubicBezTo>
                      <a:pt x="113" y="1369"/>
                      <a:pt x="221" y="1374"/>
                      <a:pt x="331" y="1374"/>
                    </a:cubicBezTo>
                    <a:cubicBezTo>
                      <a:pt x="377" y="1374"/>
                      <a:pt x="423" y="1373"/>
                      <a:pt x="469" y="1371"/>
                    </a:cubicBezTo>
                    <a:lnTo>
                      <a:pt x="412" y="1"/>
                    </a:lnTo>
                    <a:cubicBezTo>
                      <a:pt x="361" y="4"/>
                      <a:pt x="309" y="6"/>
                      <a:pt x="257" y="6"/>
                    </a:cubicBezTo>
                    <a:cubicBezTo>
                      <a:pt x="204" y="6"/>
                      <a:pt x="152" y="4"/>
                      <a:pt x="10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4" name="Google Shape;3873;p44">
                <a:extLst>
                  <a:ext uri="{FF2B5EF4-FFF2-40B4-BE49-F238E27FC236}">
                    <a16:creationId xmlns:a16="http://schemas.microsoft.com/office/drawing/2014/main" id="{67C7425A-786C-B7FE-077F-686D4D52ED6A}"/>
                  </a:ext>
                </a:extLst>
              </p:cNvPr>
              <p:cNvSpPr/>
              <p:nvPr/>
            </p:nvSpPr>
            <p:spPr bwMode="auto">
              <a:xfrm>
                <a:off x="2699800" y="5336750"/>
                <a:ext cx="1987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415" extrusionOk="0">
                    <a:moveTo>
                      <a:pt x="506" y="1"/>
                    </a:moveTo>
                    <a:lnTo>
                      <a:pt x="1" y="1270"/>
                    </a:lnTo>
                    <a:cubicBezTo>
                      <a:pt x="145" y="1328"/>
                      <a:pt x="296" y="1379"/>
                      <a:pt x="448" y="1415"/>
                    </a:cubicBezTo>
                    <a:lnTo>
                      <a:pt x="794" y="95"/>
                    </a:lnTo>
                    <a:cubicBezTo>
                      <a:pt x="693" y="66"/>
                      <a:pt x="599" y="37"/>
                      <a:pt x="5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5" name="Google Shape;3874;p44">
                <a:extLst>
                  <a:ext uri="{FF2B5EF4-FFF2-40B4-BE49-F238E27FC236}">
                    <a16:creationId xmlns:a16="http://schemas.microsoft.com/office/drawing/2014/main" id="{614F13E6-3476-9C01-1CC2-1CE950D46F12}"/>
                  </a:ext>
                </a:extLst>
              </p:cNvPr>
              <p:cNvSpPr/>
              <p:nvPr/>
            </p:nvSpPr>
            <p:spPr bwMode="auto">
              <a:xfrm>
                <a:off x="2674375" y="5327200"/>
                <a:ext cx="27800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3" extrusionOk="0">
                    <a:moveTo>
                      <a:pt x="859" y="1"/>
                    </a:moveTo>
                    <a:lnTo>
                      <a:pt x="1" y="1068"/>
                    </a:lnTo>
                    <a:cubicBezTo>
                      <a:pt x="123" y="1169"/>
                      <a:pt x="253" y="1256"/>
                      <a:pt x="390" y="1342"/>
                    </a:cubicBezTo>
                    <a:lnTo>
                      <a:pt x="1112" y="174"/>
                    </a:lnTo>
                    <a:cubicBezTo>
                      <a:pt x="1018" y="123"/>
                      <a:pt x="938" y="66"/>
                      <a:pt x="859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6" name="Google Shape;3875;p44">
                <a:extLst>
                  <a:ext uri="{FF2B5EF4-FFF2-40B4-BE49-F238E27FC236}">
                    <a16:creationId xmlns:a16="http://schemas.microsoft.com/office/drawing/2014/main" id="{E7B21EA8-F60C-6D77-63DB-1B72B9394F85}"/>
                  </a:ext>
                </a:extLst>
              </p:cNvPr>
              <p:cNvSpPr/>
              <p:nvPr/>
            </p:nvSpPr>
            <p:spPr bwMode="auto">
              <a:xfrm>
                <a:off x="2654550" y="5313150"/>
                <a:ext cx="33025" cy="28674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147" extrusionOk="0">
                    <a:moveTo>
                      <a:pt x="1126" y="0"/>
                    </a:moveTo>
                    <a:lnTo>
                      <a:pt x="0" y="772"/>
                    </a:lnTo>
                    <a:lnTo>
                      <a:pt x="137" y="959"/>
                    </a:lnTo>
                    <a:lnTo>
                      <a:pt x="210" y="1053"/>
                    </a:lnTo>
                    <a:lnTo>
                      <a:pt x="289" y="1147"/>
                    </a:lnTo>
                    <a:lnTo>
                      <a:pt x="1320" y="245"/>
                    </a:lnTo>
                    <a:lnTo>
                      <a:pt x="1263" y="188"/>
                    </a:lnTo>
                    <a:lnTo>
                      <a:pt x="1219" y="123"/>
                    </a:lnTo>
                    <a:lnTo>
                      <a:pt x="1126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7" name="Google Shape;3876;p44">
                <a:extLst>
                  <a:ext uri="{FF2B5EF4-FFF2-40B4-BE49-F238E27FC236}">
                    <a16:creationId xmlns:a16="http://schemas.microsoft.com/office/drawing/2014/main" id="{69F26612-28C9-7544-A64B-EF227BA91F6F}"/>
                  </a:ext>
                </a:extLst>
              </p:cNvPr>
              <p:cNvSpPr/>
              <p:nvPr/>
            </p:nvSpPr>
            <p:spPr bwMode="auto">
              <a:xfrm>
                <a:off x="2641750" y="5296000"/>
                <a:ext cx="35350" cy="2112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45" extrusionOk="0">
                    <a:moveTo>
                      <a:pt x="1306" y="1"/>
                    </a:moveTo>
                    <a:lnTo>
                      <a:pt x="0" y="405"/>
                    </a:lnTo>
                    <a:cubicBezTo>
                      <a:pt x="51" y="549"/>
                      <a:pt x="101" y="701"/>
                      <a:pt x="166" y="845"/>
                    </a:cubicBezTo>
                    <a:lnTo>
                      <a:pt x="1414" y="282"/>
                    </a:lnTo>
                    <a:cubicBezTo>
                      <a:pt x="1371" y="196"/>
                      <a:pt x="1342" y="95"/>
                      <a:pt x="13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8" name="Google Shape;3877;p44">
                <a:extLst>
                  <a:ext uri="{FF2B5EF4-FFF2-40B4-BE49-F238E27FC236}">
                    <a16:creationId xmlns:a16="http://schemas.microsoft.com/office/drawing/2014/main" id="{90A04E3F-AC47-199A-60CF-5EEA1635B537}"/>
                  </a:ext>
                </a:extLst>
              </p:cNvPr>
              <p:cNvSpPr/>
              <p:nvPr/>
            </p:nvSpPr>
            <p:spPr bwMode="auto">
              <a:xfrm>
                <a:off x="2637425" y="5277075"/>
                <a:ext cx="3465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470" extrusionOk="0">
                    <a:moveTo>
                      <a:pt x="0" y="1"/>
                    </a:moveTo>
                    <a:cubicBezTo>
                      <a:pt x="7" y="152"/>
                      <a:pt x="7" y="311"/>
                      <a:pt x="29" y="469"/>
                    </a:cubicBezTo>
                    <a:lnTo>
                      <a:pt x="1385" y="304"/>
                    </a:lnTo>
                    <a:cubicBezTo>
                      <a:pt x="1371" y="203"/>
                      <a:pt x="1378" y="102"/>
                      <a:pt x="136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59" name="Google Shape;3878;p44">
                <a:extLst>
                  <a:ext uri="{FF2B5EF4-FFF2-40B4-BE49-F238E27FC236}">
                    <a16:creationId xmlns:a16="http://schemas.microsoft.com/office/drawing/2014/main" id="{31C6CF42-3F8F-EBB8-A889-EC705CEA437D}"/>
                  </a:ext>
                </a:extLst>
              </p:cNvPr>
              <p:cNvSpPr/>
              <p:nvPr/>
            </p:nvSpPr>
            <p:spPr bwMode="auto">
              <a:xfrm>
                <a:off x="2789950" y="5224075"/>
                <a:ext cx="344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003" extrusionOk="0">
                    <a:moveTo>
                      <a:pt x="1155" y="0"/>
                    </a:moveTo>
                    <a:lnTo>
                      <a:pt x="1" y="736"/>
                    </a:lnTo>
                    <a:lnTo>
                      <a:pt x="80" y="866"/>
                    </a:lnTo>
                    <a:cubicBezTo>
                      <a:pt x="102" y="909"/>
                      <a:pt x="131" y="959"/>
                      <a:pt x="145" y="1003"/>
                    </a:cubicBezTo>
                    <a:lnTo>
                      <a:pt x="1379" y="411"/>
                    </a:lnTo>
                    <a:cubicBezTo>
                      <a:pt x="1342" y="339"/>
                      <a:pt x="1314" y="267"/>
                      <a:pt x="1278" y="202"/>
                    </a:cubicBezTo>
                    <a:lnTo>
                      <a:pt x="1155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60" name="Google Shape;3879;p44">
                <a:extLst>
                  <a:ext uri="{FF2B5EF4-FFF2-40B4-BE49-F238E27FC236}">
                    <a16:creationId xmlns:a16="http://schemas.microsoft.com/office/drawing/2014/main" id="{AE1F6467-85CC-65E1-2105-F1CB94FE9633}"/>
                  </a:ext>
                </a:extLst>
              </p:cNvPr>
              <p:cNvSpPr/>
              <p:nvPr/>
            </p:nvSpPr>
            <p:spPr bwMode="auto">
              <a:xfrm>
                <a:off x="2719450" y="5260674"/>
                <a:ext cx="32675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306" extrusionOk="0">
                    <a:moveTo>
                      <a:pt x="657" y="0"/>
                    </a:moveTo>
                    <a:cubicBezTo>
                      <a:pt x="297" y="0"/>
                      <a:pt x="1" y="296"/>
                      <a:pt x="1" y="657"/>
                    </a:cubicBezTo>
                    <a:cubicBezTo>
                      <a:pt x="1" y="1017"/>
                      <a:pt x="297" y="1306"/>
                      <a:pt x="657" y="1306"/>
                    </a:cubicBezTo>
                    <a:cubicBezTo>
                      <a:pt x="1018" y="1306"/>
                      <a:pt x="1306" y="1017"/>
                      <a:pt x="1306" y="657"/>
                    </a:cubicBezTo>
                    <a:cubicBezTo>
                      <a:pt x="1306" y="296"/>
                      <a:pt x="1018" y="0"/>
                      <a:pt x="657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2A2C7F-8BE3-AF2F-7E25-A0E988FFC1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>
            <a:extLst>
              <a:ext uri="{FF2B5EF4-FFF2-40B4-BE49-F238E27FC236}">
                <a16:creationId xmlns:a16="http://schemas.microsoft.com/office/drawing/2014/main" id="{B03AA433-DAB2-19E9-8838-8D8A646EEDC1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65220022" name="Номер слайда 20">
            <a:extLst>
              <a:ext uri="{FF2B5EF4-FFF2-40B4-BE49-F238E27FC236}">
                <a16:creationId xmlns:a16="http://schemas.microsoft.com/office/drawing/2014/main" id="{7B03DD37-9E67-D96F-942E-38951C4BC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7</a:t>
            </a:fld>
            <a:endParaRPr lang="ru-RU"/>
          </a:p>
        </p:txBody>
      </p:sp>
      <p:sp>
        <p:nvSpPr>
          <p:cNvPr id="1029284307" name="Заголовок 27">
            <a:extLst>
              <a:ext uri="{FF2B5EF4-FFF2-40B4-BE49-F238E27FC236}">
                <a16:creationId xmlns:a16="http://schemas.microsoft.com/office/drawing/2014/main" id="{4D7FD377-68F9-397D-26F3-CC68C8C9D8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60983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Динамическая настройка дальности при помощи системы камер</a:t>
            </a:r>
            <a:endParaRPr lang="ru-RU" sz="2000" dirty="0">
              <a:solidFill>
                <a:schemeClr val="accent5"/>
              </a:solidFill>
            </a:endParaRPr>
          </a:p>
        </p:txBody>
      </p:sp>
      <p:grpSp>
        <p:nvGrpSpPr>
          <p:cNvPr id="3" name="Google Shape;1509;p43">
            <a:extLst>
              <a:ext uri="{FF2B5EF4-FFF2-40B4-BE49-F238E27FC236}">
                <a16:creationId xmlns:a16="http://schemas.microsoft.com/office/drawing/2014/main" id="{AE17CC0D-168D-DE5E-08B3-A84E8AD83A8E}"/>
              </a:ext>
            </a:extLst>
          </p:cNvPr>
          <p:cNvGrpSpPr/>
          <p:nvPr/>
        </p:nvGrpSpPr>
        <p:grpSpPr bwMode="auto">
          <a:xfrm rot="5400000">
            <a:off x="6911878" y="-959307"/>
            <a:ext cx="2621726" cy="8553808"/>
            <a:chOff x="3091763" y="1930338"/>
            <a:chExt cx="377890" cy="684491"/>
          </a:xfrm>
          <a:solidFill>
            <a:schemeClr val="bg1">
              <a:alpha val="0"/>
            </a:schemeClr>
          </a:solidFill>
        </p:grpSpPr>
        <p:sp>
          <p:nvSpPr>
            <p:cNvPr id="4" name="Google Shape;1510;p43">
              <a:extLst>
                <a:ext uri="{FF2B5EF4-FFF2-40B4-BE49-F238E27FC236}">
                  <a16:creationId xmlns:a16="http://schemas.microsoft.com/office/drawing/2014/main" id="{38B06A0C-60B4-7340-F8EF-F923E2755F0F}"/>
                </a:ext>
              </a:extLst>
            </p:cNvPr>
            <p:cNvSpPr/>
            <p:nvPr/>
          </p:nvSpPr>
          <p:spPr bwMode="auto"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5" name="Google Shape;1511;p43">
              <a:extLst>
                <a:ext uri="{FF2B5EF4-FFF2-40B4-BE49-F238E27FC236}">
                  <a16:creationId xmlns:a16="http://schemas.microsoft.com/office/drawing/2014/main" id="{63DA9171-4B1C-C46A-9D0A-9E2C4B0BF37C}"/>
                </a:ext>
              </a:extLst>
            </p:cNvPr>
            <p:cNvSpPr/>
            <p:nvPr/>
          </p:nvSpPr>
          <p:spPr bwMode="auto"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6" name="Google Shape;1512;p43">
              <a:extLst>
                <a:ext uri="{FF2B5EF4-FFF2-40B4-BE49-F238E27FC236}">
                  <a16:creationId xmlns:a16="http://schemas.microsoft.com/office/drawing/2014/main" id="{C6E137A0-1385-514B-6E5B-E6C02297281C}"/>
                </a:ext>
              </a:extLst>
            </p:cNvPr>
            <p:cNvSpPr/>
            <p:nvPr/>
          </p:nvSpPr>
          <p:spPr bwMode="auto"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4" name="Google Shape;1530;p43">
              <a:extLst>
                <a:ext uri="{FF2B5EF4-FFF2-40B4-BE49-F238E27FC236}">
                  <a16:creationId xmlns:a16="http://schemas.microsoft.com/office/drawing/2014/main" id="{EFEB40A4-0322-E16E-F875-4237E1D46DDA}"/>
                </a:ext>
              </a:extLst>
            </p:cNvPr>
            <p:cNvSpPr/>
            <p:nvPr/>
          </p:nvSpPr>
          <p:spPr bwMode="auto"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5" name="Google Shape;1531;p43">
              <a:extLst>
                <a:ext uri="{FF2B5EF4-FFF2-40B4-BE49-F238E27FC236}">
                  <a16:creationId xmlns:a16="http://schemas.microsoft.com/office/drawing/2014/main" id="{EFF7C3B0-1CEF-D547-484E-882953F6E7B1}"/>
                </a:ext>
              </a:extLst>
            </p:cNvPr>
            <p:cNvSpPr/>
            <p:nvPr/>
          </p:nvSpPr>
          <p:spPr bwMode="auto"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6" name="Google Shape;1532;p43">
              <a:extLst>
                <a:ext uri="{FF2B5EF4-FFF2-40B4-BE49-F238E27FC236}">
                  <a16:creationId xmlns:a16="http://schemas.microsoft.com/office/drawing/2014/main" id="{32F3935C-4CD2-8F3A-FE53-ED31AD93CD91}"/>
                </a:ext>
              </a:extLst>
            </p:cNvPr>
            <p:cNvSpPr/>
            <p:nvPr/>
          </p:nvSpPr>
          <p:spPr bwMode="auto"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7" name="Google Shape;1533;p43">
              <a:extLst>
                <a:ext uri="{FF2B5EF4-FFF2-40B4-BE49-F238E27FC236}">
                  <a16:creationId xmlns:a16="http://schemas.microsoft.com/office/drawing/2014/main" id="{9D0B7532-2567-EF2F-A99E-6CCBC5A6ECE7}"/>
                </a:ext>
              </a:extLst>
            </p:cNvPr>
            <p:cNvSpPr/>
            <p:nvPr/>
          </p:nvSpPr>
          <p:spPr bwMode="auto"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8" name="Google Shape;1534;p43">
              <a:extLst>
                <a:ext uri="{FF2B5EF4-FFF2-40B4-BE49-F238E27FC236}">
                  <a16:creationId xmlns:a16="http://schemas.microsoft.com/office/drawing/2014/main" id="{D4958FC8-7279-BCE8-6D5E-DF09922B7B98}"/>
                </a:ext>
              </a:extLst>
            </p:cNvPr>
            <p:cNvSpPr/>
            <p:nvPr/>
          </p:nvSpPr>
          <p:spPr bwMode="auto">
            <a:xfrm>
              <a:off x="3234603" y="2510888"/>
              <a:ext cx="101301" cy="76183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9" name="Google Shape;1535;p43">
              <a:extLst>
                <a:ext uri="{FF2B5EF4-FFF2-40B4-BE49-F238E27FC236}">
                  <a16:creationId xmlns:a16="http://schemas.microsoft.com/office/drawing/2014/main" id="{06FC85E6-13D7-4210-F9BF-695330C77490}"/>
                </a:ext>
              </a:extLst>
            </p:cNvPr>
            <p:cNvSpPr/>
            <p:nvPr/>
          </p:nvSpPr>
          <p:spPr bwMode="auto"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0" name="Google Shape;1536;p43">
              <a:extLst>
                <a:ext uri="{FF2B5EF4-FFF2-40B4-BE49-F238E27FC236}">
                  <a16:creationId xmlns:a16="http://schemas.microsoft.com/office/drawing/2014/main" id="{F5D942EE-491A-D8C8-4A05-E8CB83B12670}"/>
                </a:ext>
              </a:extLst>
            </p:cNvPr>
            <p:cNvSpPr/>
            <p:nvPr/>
          </p:nvSpPr>
          <p:spPr bwMode="auto"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</p:grpSp>
      <p:grpSp>
        <p:nvGrpSpPr>
          <p:cNvPr id="31" name="Google Shape;1593;p43">
            <a:extLst>
              <a:ext uri="{FF2B5EF4-FFF2-40B4-BE49-F238E27FC236}">
                <a16:creationId xmlns:a16="http://schemas.microsoft.com/office/drawing/2014/main" id="{9697A4B0-1324-4463-9E9E-E75051F2F644}"/>
              </a:ext>
            </a:extLst>
          </p:cNvPr>
          <p:cNvGrpSpPr/>
          <p:nvPr/>
        </p:nvGrpSpPr>
        <p:grpSpPr bwMode="auto">
          <a:xfrm flipH="1">
            <a:off x="7623804" y="924300"/>
            <a:ext cx="3459377" cy="4467226"/>
            <a:chOff x="3453063" y="1901799"/>
            <a:chExt cx="585229" cy="761197"/>
          </a:xfrm>
          <a:solidFill>
            <a:schemeClr val="bg1">
              <a:alpha val="23000"/>
            </a:schemeClr>
          </a:solidFill>
        </p:grpSpPr>
        <p:grpSp>
          <p:nvGrpSpPr>
            <p:cNvPr id="32" name="Google Shape;1595;p43">
              <a:extLst>
                <a:ext uri="{FF2B5EF4-FFF2-40B4-BE49-F238E27FC236}">
                  <a16:creationId xmlns:a16="http://schemas.microsoft.com/office/drawing/2014/main" id="{7D55DC5E-7D80-1994-B492-BD8941017EB3}"/>
                </a:ext>
              </a:extLst>
            </p:cNvPr>
            <p:cNvGrpSpPr/>
            <p:nvPr/>
          </p:nvGrpSpPr>
          <p:grpSpPr bwMode="auto">
            <a:xfrm>
              <a:off x="3835096" y="1901799"/>
              <a:ext cx="203196" cy="352308"/>
              <a:chOff x="4112904" y="4944303"/>
              <a:chExt cx="107625" cy="186594"/>
            </a:xfrm>
            <a:grpFill/>
          </p:grpSpPr>
          <p:sp>
            <p:nvSpPr>
              <p:cNvPr id="38" name="Google Shape;1596;p43">
                <a:extLst>
                  <a:ext uri="{FF2B5EF4-FFF2-40B4-BE49-F238E27FC236}">
                    <a16:creationId xmlns:a16="http://schemas.microsoft.com/office/drawing/2014/main" id="{5FF2A45C-A6A6-BB30-7BA8-4D150A7DAE24}"/>
                  </a:ext>
                </a:extLst>
              </p:cNvPr>
              <p:cNvSpPr/>
              <p:nvPr/>
            </p:nvSpPr>
            <p:spPr bwMode="auto">
              <a:xfrm>
                <a:off x="4147997" y="5026174"/>
                <a:ext cx="26550" cy="892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3571" fill="none" extrusionOk="0">
                    <a:moveTo>
                      <a:pt x="1" y="3571"/>
                    </a:moveTo>
                    <a:lnTo>
                      <a:pt x="1" y="1594"/>
                    </a:lnTo>
                    <a:lnTo>
                      <a:pt x="1061" y="1594"/>
                    </a:lnTo>
                    <a:lnTo>
                      <a:pt x="1061" y="0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9" name="Google Shape;1597;p43">
                <a:extLst>
                  <a:ext uri="{FF2B5EF4-FFF2-40B4-BE49-F238E27FC236}">
                    <a16:creationId xmlns:a16="http://schemas.microsoft.com/office/drawing/2014/main" id="{9E719A44-402A-AA30-EB61-BBB2D5287350}"/>
                  </a:ext>
                </a:extLst>
              </p:cNvPr>
              <p:cNvSpPr/>
              <p:nvPr/>
            </p:nvSpPr>
            <p:spPr bwMode="auto">
              <a:xfrm>
                <a:off x="4112904" y="4944303"/>
                <a:ext cx="1076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3683" extrusionOk="0">
                    <a:moveTo>
                      <a:pt x="2478" y="1"/>
                    </a:moveTo>
                    <a:cubicBezTo>
                      <a:pt x="2474" y="1"/>
                      <a:pt x="2470" y="1"/>
                      <a:pt x="2465" y="1"/>
                    </a:cubicBezTo>
                    <a:cubicBezTo>
                      <a:pt x="2462" y="1"/>
                      <a:pt x="2459" y="1"/>
                      <a:pt x="2456" y="1"/>
                    </a:cubicBezTo>
                    <a:cubicBezTo>
                      <a:pt x="818" y="1"/>
                      <a:pt x="1" y="1979"/>
                      <a:pt x="1160" y="3138"/>
                    </a:cubicBezTo>
                    <a:cubicBezTo>
                      <a:pt x="1535" y="3514"/>
                      <a:pt x="1997" y="3682"/>
                      <a:pt x="2450" y="3682"/>
                    </a:cubicBezTo>
                    <a:cubicBezTo>
                      <a:pt x="3397" y="3682"/>
                      <a:pt x="4304" y="2948"/>
                      <a:pt x="4304" y="1840"/>
                    </a:cubicBezTo>
                    <a:cubicBezTo>
                      <a:pt x="4304" y="828"/>
                      <a:pt x="3489" y="1"/>
                      <a:pt x="247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0" name="Google Shape;1598;p43">
                <a:extLst>
                  <a:ext uri="{FF2B5EF4-FFF2-40B4-BE49-F238E27FC236}">
                    <a16:creationId xmlns:a16="http://schemas.microsoft.com/office/drawing/2014/main" id="{4B97BCA1-BD2D-6F56-A8FB-4EEA438594C8}"/>
                  </a:ext>
                </a:extLst>
              </p:cNvPr>
              <p:cNvSpPr/>
              <p:nvPr/>
            </p:nvSpPr>
            <p:spPr bwMode="auto">
              <a:xfrm>
                <a:off x="4130942" y="5102849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1" y="0"/>
                    </a:moveTo>
                    <a:cubicBezTo>
                      <a:pt x="547" y="0"/>
                      <a:pt x="420" y="46"/>
                      <a:pt x="318" y="149"/>
                    </a:cubicBezTo>
                    <a:cubicBezTo>
                      <a:pt x="0" y="467"/>
                      <a:pt x="224" y="1007"/>
                      <a:pt x="671" y="1007"/>
                    </a:cubicBezTo>
                    <a:cubicBezTo>
                      <a:pt x="952" y="1007"/>
                      <a:pt x="1176" y="784"/>
                      <a:pt x="1176" y="503"/>
                    </a:cubicBezTo>
                    <a:cubicBezTo>
                      <a:pt x="1176" y="200"/>
                      <a:pt x="929" y="0"/>
                      <a:pt x="67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1" name="Google Shape;1599;p43">
                <a:extLst>
                  <a:ext uri="{FF2B5EF4-FFF2-40B4-BE49-F238E27FC236}">
                    <a16:creationId xmlns:a16="http://schemas.microsoft.com/office/drawing/2014/main" id="{6176570C-D93E-512B-588A-9019ACCDE108}"/>
                  </a:ext>
                </a:extLst>
              </p:cNvPr>
              <p:cNvSpPr/>
              <p:nvPr/>
            </p:nvSpPr>
            <p:spPr bwMode="auto">
              <a:xfrm>
                <a:off x="4127452" y="5100097"/>
                <a:ext cx="359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2" extrusionOk="0">
                    <a:moveTo>
                      <a:pt x="823" y="224"/>
                    </a:moveTo>
                    <a:cubicBezTo>
                      <a:pt x="1169" y="224"/>
                      <a:pt x="1342" y="650"/>
                      <a:pt x="1097" y="895"/>
                    </a:cubicBezTo>
                    <a:cubicBezTo>
                      <a:pt x="1018" y="974"/>
                      <a:pt x="921" y="1010"/>
                      <a:pt x="825" y="1010"/>
                    </a:cubicBezTo>
                    <a:cubicBezTo>
                      <a:pt x="625" y="1010"/>
                      <a:pt x="433" y="853"/>
                      <a:pt x="433" y="614"/>
                    </a:cubicBezTo>
                    <a:cubicBezTo>
                      <a:pt x="433" y="404"/>
                      <a:pt x="607" y="224"/>
                      <a:pt x="823" y="224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64"/>
                      <a:pt x="390" y="1054"/>
                    </a:cubicBezTo>
                    <a:cubicBezTo>
                      <a:pt x="515" y="1176"/>
                      <a:pt x="668" y="1231"/>
                      <a:pt x="818" y="1231"/>
                    </a:cubicBezTo>
                    <a:cubicBezTo>
                      <a:pt x="1134" y="1231"/>
                      <a:pt x="1436" y="986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  <p:grpSp>
          <p:nvGrpSpPr>
            <p:cNvPr id="33" name="Google Shape;1600;p43">
              <a:extLst>
                <a:ext uri="{FF2B5EF4-FFF2-40B4-BE49-F238E27FC236}">
                  <a16:creationId xmlns:a16="http://schemas.microsoft.com/office/drawing/2014/main" id="{00020871-1F6A-65AA-6A37-CD5D5CB400D7}"/>
                </a:ext>
              </a:extLst>
            </p:cNvPr>
            <p:cNvGrpSpPr/>
            <p:nvPr/>
          </p:nvGrpSpPr>
          <p:grpSpPr bwMode="auto">
            <a:xfrm>
              <a:off x="3453063" y="2295487"/>
              <a:ext cx="203290" cy="367509"/>
              <a:chOff x="3910556" y="5228145"/>
              <a:chExt cx="107675" cy="194645"/>
            </a:xfrm>
            <a:grpFill/>
          </p:grpSpPr>
          <p:sp>
            <p:nvSpPr>
              <p:cNvPr id="34" name="Google Shape;1601;p43">
                <a:extLst>
                  <a:ext uri="{FF2B5EF4-FFF2-40B4-BE49-F238E27FC236}">
                    <a16:creationId xmlns:a16="http://schemas.microsoft.com/office/drawing/2014/main" id="{B072C756-425A-08F7-FBDF-2DB04CB9717F}"/>
                  </a:ext>
                </a:extLst>
              </p:cNvPr>
              <p:cNvSpPr/>
              <p:nvPr/>
            </p:nvSpPr>
            <p:spPr bwMode="auto">
              <a:xfrm>
                <a:off x="3941556" y="5243290"/>
                <a:ext cx="2835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3990" fill="none" extrusionOk="0">
                    <a:moveTo>
                      <a:pt x="1" y="1"/>
                    </a:moveTo>
                    <a:lnTo>
                      <a:pt x="1" y="1898"/>
                    </a:lnTo>
                    <a:lnTo>
                      <a:pt x="1133" y="1898"/>
                    </a:lnTo>
                    <a:lnTo>
                      <a:pt x="1133" y="3989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5" name="Google Shape;1602;p43">
                <a:extLst>
                  <a:ext uri="{FF2B5EF4-FFF2-40B4-BE49-F238E27FC236}">
                    <a16:creationId xmlns:a16="http://schemas.microsoft.com/office/drawing/2014/main" id="{5CC627C6-E98F-41B9-EEE2-00ECDADFF745}"/>
                  </a:ext>
                </a:extLst>
              </p:cNvPr>
              <p:cNvSpPr/>
              <p:nvPr/>
            </p:nvSpPr>
            <p:spPr bwMode="auto">
              <a:xfrm>
                <a:off x="3910556" y="5330565"/>
                <a:ext cx="1076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689" extrusionOk="0">
                    <a:moveTo>
                      <a:pt x="2460" y="1"/>
                    </a:moveTo>
                    <a:cubicBezTo>
                      <a:pt x="822" y="1"/>
                      <a:pt x="0" y="1984"/>
                      <a:pt x="1161" y="3145"/>
                    </a:cubicBezTo>
                    <a:cubicBezTo>
                      <a:pt x="1535" y="3521"/>
                      <a:pt x="1994" y="3689"/>
                      <a:pt x="2446" y="3689"/>
                    </a:cubicBezTo>
                    <a:cubicBezTo>
                      <a:pt x="3391" y="3689"/>
                      <a:pt x="4301" y="2953"/>
                      <a:pt x="4306" y="1840"/>
                    </a:cubicBezTo>
                    <a:cubicBezTo>
                      <a:pt x="4306" y="823"/>
                      <a:pt x="3477" y="1"/>
                      <a:pt x="246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6" name="Google Shape;1603;p43">
                <a:extLst>
                  <a:ext uri="{FF2B5EF4-FFF2-40B4-BE49-F238E27FC236}">
                    <a16:creationId xmlns:a16="http://schemas.microsoft.com/office/drawing/2014/main" id="{B754415E-6F8A-5D7C-7003-E603FE80DDF5}"/>
                  </a:ext>
                </a:extLst>
              </p:cNvPr>
              <p:cNvSpPr/>
              <p:nvPr/>
            </p:nvSpPr>
            <p:spPr bwMode="auto">
              <a:xfrm>
                <a:off x="3924806" y="523074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0" y="1"/>
                    </a:moveTo>
                    <a:cubicBezTo>
                      <a:pt x="547" y="1"/>
                      <a:pt x="420" y="47"/>
                      <a:pt x="317" y="149"/>
                    </a:cubicBezTo>
                    <a:cubicBezTo>
                      <a:pt x="0" y="467"/>
                      <a:pt x="224" y="1008"/>
                      <a:pt x="671" y="1008"/>
                    </a:cubicBezTo>
                    <a:cubicBezTo>
                      <a:pt x="952" y="1008"/>
                      <a:pt x="1176" y="777"/>
                      <a:pt x="1176" y="503"/>
                    </a:cubicBezTo>
                    <a:cubicBezTo>
                      <a:pt x="1176" y="201"/>
                      <a:pt x="929" y="1"/>
                      <a:pt x="67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37" name="Google Shape;1604;p43">
                <a:extLst>
                  <a:ext uri="{FF2B5EF4-FFF2-40B4-BE49-F238E27FC236}">
                    <a16:creationId xmlns:a16="http://schemas.microsoft.com/office/drawing/2014/main" id="{FA836595-94C5-794D-F1FB-F3C4FEFF23CA}"/>
                  </a:ext>
                </a:extLst>
              </p:cNvPr>
              <p:cNvSpPr/>
              <p:nvPr/>
            </p:nvSpPr>
            <p:spPr bwMode="auto">
              <a:xfrm>
                <a:off x="3921007" y="5228145"/>
                <a:ext cx="3590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229" extrusionOk="0">
                    <a:moveTo>
                      <a:pt x="823" y="225"/>
                    </a:moveTo>
                    <a:cubicBezTo>
                      <a:pt x="1169" y="225"/>
                      <a:pt x="1349" y="643"/>
                      <a:pt x="1104" y="888"/>
                    </a:cubicBezTo>
                    <a:cubicBezTo>
                      <a:pt x="1022" y="968"/>
                      <a:pt x="923" y="1003"/>
                      <a:pt x="826" y="1003"/>
                    </a:cubicBezTo>
                    <a:cubicBezTo>
                      <a:pt x="625" y="1003"/>
                      <a:pt x="433" y="848"/>
                      <a:pt x="433" y="614"/>
                    </a:cubicBezTo>
                    <a:cubicBezTo>
                      <a:pt x="433" y="398"/>
                      <a:pt x="606" y="225"/>
                      <a:pt x="823" y="225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57"/>
                      <a:pt x="390" y="1047"/>
                    </a:cubicBezTo>
                    <a:cubicBezTo>
                      <a:pt x="516" y="1172"/>
                      <a:pt x="669" y="1228"/>
                      <a:pt x="819" y="1228"/>
                    </a:cubicBezTo>
                    <a:cubicBezTo>
                      <a:pt x="1134" y="1228"/>
                      <a:pt x="1436" y="981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814CEF17-573A-26F8-9089-497010D9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836450" y="1105556"/>
            <a:ext cx="633050" cy="63305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C92DE261-F96A-1A9E-BAA4-4EB55A94B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74347" y="4554105"/>
            <a:ext cx="633050" cy="633050"/>
          </a:xfrm>
          <a:prstGeom prst="rect">
            <a:avLst/>
          </a:prstGeom>
        </p:spPr>
      </p:pic>
      <p:sp>
        <p:nvSpPr>
          <p:cNvPr id="46" name="Текст 6">
            <a:extLst>
              <a:ext uri="{FF2B5EF4-FFF2-40B4-BE49-F238E27FC236}">
                <a16:creationId xmlns:a16="http://schemas.microsoft.com/office/drawing/2014/main" id="{F8FB657A-47AA-2DE8-13FA-F19773E3D05F}"/>
              </a:ext>
            </a:extLst>
          </p:cNvPr>
          <p:cNvSpPr txBox="1">
            <a:spLocks/>
          </p:cNvSpPr>
          <p:nvPr/>
        </p:nvSpPr>
        <p:spPr bwMode="auto">
          <a:xfrm>
            <a:off x="673100" y="1416050"/>
            <a:ext cx="5575300" cy="4937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Чтобы повысить вероятность обнаружения препятствия за поворотом, можно добавить систему камер, которые будут расположены по всей длине тоннеля.</a:t>
            </a:r>
          </a:p>
          <a:p>
            <a:pPr marL="0" indent="0">
              <a:buNone/>
              <a:defRPr/>
            </a:pPr>
            <a:endParaRPr lang="ru-RU" sz="18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Камеры обнаруживают препятствия в не видимой из-за поворота зоне и подают команды в вычислитель поезда на снижение скорости, если обнаруженный объект переходит из статуса «Кандидат» в статус «Тревога»</a:t>
            </a:r>
          </a:p>
        </p:txBody>
      </p:sp>
    </p:spTree>
    <p:extLst>
      <p:ext uri="{BB962C8B-B14F-4D97-AF65-F5344CB8AC3E}">
        <p14:creationId xmlns:p14="http://schemas.microsoft.com/office/powerpoint/2010/main" val="271077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FB5CA22-7DCD-73B7-CC04-AB9EF85600D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>
            <a:extLst>
              <a:ext uri="{FF2B5EF4-FFF2-40B4-BE49-F238E27FC236}">
                <a16:creationId xmlns:a16="http://schemas.microsoft.com/office/drawing/2014/main" id="{83B4D418-6BEA-68B2-C1ED-2C40123B9CD8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9284307" name="Заголовок 27">
            <a:extLst>
              <a:ext uri="{FF2B5EF4-FFF2-40B4-BE49-F238E27FC236}">
                <a16:creationId xmlns:a16="http://schemas.microsoft.com/office/drawing/2014/main" id="{71AA9E85-BAD9-D8AF-425B-CED067570C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Система камер</a:t>
            </a:r>
          </a:p>
        </p:txBody>
      </p:sp>
      <p:sp>
        <p:nvSpPr>
          <p:cNvPr id="24" name="Номер слайда 20">
            <a:extLst>
              <a:ext uri="{FF2B5EF4-FFF2-40B4-BE49-F238E27FC236}">
                <a16:creationId xmlns:a16="http://schemas.microsoft.com/office/drawing/2014/main" id="{22191422-3475-77A8-40AC-88DA7DA9A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8</a:t>
            </a:fld>
            <a:endParaRPr lang="ru-RU"/>
          </a:p>
        </p:txBody>
      </p:sp>
      <p:grpSp>
        <p:nvGrpSpPr>
          <p:cNvPr id="25" name="Google Shape;1509;p43">
            <a:extLst>
              <a:ext uri="{FF2B5EF4-FFF2-40B4-BE49-F238E27FC236}">
                <a16:creationId xmlns:a16="http://schemas.microsoft.com/office/drawing/2014/main" id="{C028B77C-4152-39D6-78ED-5AEB3A219E51}"/>
              </a:ext>
            </a:extLst>
          </p:cNvPr>
          <p:cNvGrpSpPr/>
          <p:nvPr/>
        </p:nvGrpSpPr>
        <p:grpSpPr bwMode="auto">
          <a:xfrm rot="5400000">
            <a:off x="6911878" y="-959307"/>
            <a:ext cx="2621726" cy="8553808"/>
            <a:chOff x="3091763" y="1930338"/>
            <a:chExt cx="377890" cy="684491"/>
          </a:xfrm>
          <a:solidFill>
            <a:schemeClr val="bg1">
              <a:alpha val="0"/>
            </a:schemeClr>
          </a:solidFill>
        </p:grpSpPr>
        <p:sp>
          <p:nvSpPr>
            <p:cNvPr id="26" name="Google Shape;1510;p43">
              <a:extLst>
                <a:ext uri="{FF2B5EF4-FFF2-40B4-BE49-F238E27FC236}">
                  <a16:creationId xmlns:a16="http://schemas.microsoft.com/office/drawing/2014/main" id="{00EB2AA3-BA86-454F-0056-7897CCB4B770}"/>
                </a:ext>
              </a:extLst>
            </p:cNvPr>
            <p:cNvSpPr/>
            <p:nvPr/>
          </p:nvSpPr>
          <p:spPr bwMode="auto"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7" name="Google Shape;1511;p43">
              <a:extLst>
                <a:ext uri="{FF2B5EF4-FFF2-40B4-BE49-F238E27FC236}">
                  <a16:creationId xmlns:a16="http://schemas.microsoft.com/office/drawing/2014/main" id="{D695DF2A-4CF0-D555-A4D4-DD00CF242736}"/>
                </a:ext>
              </a:extLst>
            </p:cNvPr>
            <p:cNvSpPr/>
            <p:nvPr/>
          </p:nvSpPr>
          <p:spPr bwMode="auto"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8" name="Google Shape;1512;p43">
              <a:extLst>
                <a:ext uri="{FF2B5EF4-FFF2-40B4-BE49-F238E27FC236}">
                  <a16:creationId xmlns:a16="http://schemas.microsoft.com/office/drawing/2014/main" id="{91DDFEF9-9479-9131-8D89-DFEE732CC34A}"/>
                </a:ext>
              </a:extLst>
            </p:cNvPr>
            <p:cNvSpPr/>
            <p:nvPr/>
          </p:nvSpPr>
          <p:spPr bwMode="auto"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29" name="Google Shape;1530;p43">
              <a:extLst>
                <a:ext uri="{FF2B5EF4-FFF2-40B4-BE49-F238E27FC236}">
                  <a16:creationId xmlns:a16="http://schemas.microsoft.com/office/drawing/2014/main" id="{ABFE8A5C-84F5-C817-5AA5-2D47BD528DCA}"/>
                </a:ext>
              </a:extLst>
            </p:cNvPr>
            <p:cNvSpPr/>
            <p:nvPr/>
          </p:nvSpPr>
          <p:spPr bwMode="auto"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0" name="Google Shape;1531;p43">
              <a:extLst>
                <a:ext uri="{FF2B5EF4-FFF2-40B4-BE49-F238E27FC236}">
                  <a16:creationId xmlns:a16="http://schemas.microsoft.com/office/drawing/2014/main" id="{2E257FDF-E67F-7229-B118-BB8A78D3E917}"/>
                </a:ext>
              </a:extLst>
            </p:cNvPr>
            <p:cNvSpPr/>
            <p:nvPr/>
          </p:nvSpPr>
          <p:spPr bwMode="auto"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1" name="Google Shape;1532;p43">
              <a:extLst>
                <a:ext uri="{FF2B5EF4-FFF2-40B4-BE49-F238E27FC236}">
                  <a16:creationId xmlns:a16="http://schemas.microsoft.com/office/drawing/2014/main" id="{12659C8A-DBD4-A0B2-E918-B28CD61F55D0}"/>
                </a:ext>
              </a:extLst>
            </p:cNvPr>
            <p:cNvSpPr/>
            <p:nvPr/>
          </p:nvSpPr>
          <p:spPr bwMode="auto"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2" name="Google Shape;1533;p43">
              <a:extLst>
                <a:ext uri="{FF2B5EF4-FFF2-40B4-BE49-F238E27FC236}">
                  <a16:creationId xmlns:a16="http://schemas.microsoft.com/office/drawing/2014/main" id="{A492091A-9916-B62D-7E5C-29A82F02CCD4}"/>
                </a:ext>
              </a:extLst>
            </p:cNvPr>
            <p:cNvSpPr/>
            <p:nvPr/>
          </p:nvSpPr>
          <p:spPr bwMode="auto"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" name="Google Shape;1534;p43">
              <a:extLst>
                <a:ext uri="{FF2B5EF4-FFF2-40B4-BE49-F238E27FC236}">
                  <a16:creationId xmlns:a16="http://schemas.microsoft.com/office/drawing/2014/main" id="{3BFF510B-06DD-DAA2-808F-6CD82D5A582E}"/>
                </a:ext>
              </a:extLst>
            </p:cNvPr>
            <p:cNvSpPr/>
            <p:nvPr/>
          </p:nvSpPr>
          <p:spPr bwMode="auto">
            <a:xfrm>
              <a:off x="3234603" y="2510888"/>
              <a:ext cx="101301" cy="76183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4" name="Google Shape;1535;p43">
              <a:extLst>
                <a:ext uri="{FF2B5EF4-FFF2-40B4-BE49-F238E27FC236}">
                  <a16:creationId xmlns:a16="http://schemas.microsoft.com/office/drawing/2014/main" id="{7F8E9996-30BC-E432-F736-A53488D69C0E}"/>
                </a:ext>
              </a:extLst>
            </p:cNvPr>
            <p:cNvSpPr/>
            <p:nvPr/>
          </p:nvSpPr>
          <p:spPr bwMode="auto"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5" name="Google Shape;1536;p43">
              <a:extLst>
                <a:ext uri="{FF2B5EF4-FFF2-40B4-BE49-F238E27FC236}">
                  <a16:creationId xmlns:a16="http://schemas.microsoft.com/office/drawing/2014/main" id="{2621FD68-9D5D-C97E-13A6-DECE82BCCE1C}"/>
                </a:ext>
              </a:extLst>
            </p:cNvPr>
            <p:cNvSpPr/>
            <p:nvPr/>
          </p:nvSpPr>
          <p:spPr bwMode="auto"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</p:grpSp>
      <p:grpSp>
        <p:nvGrpSpPr>
          <p:cNvPr id="36" name="Google Shape;1593;p43">
            <a:extLst>
              <a:ext uri="{FF2B5EF4-FFF2-40B4-BE49-F238E27FC236}">
                <a16:creationId xmlns:a16="http://schemas.microsoft.com/office/drawing/2014/main" id="{75FDD592-0783-7631-1008-5CA2B1EF8312}"/>
              </a:ext>
            </a:extLst>
          </p:cNvPr>
          <p:cNvGrpSpPr/>
          <p:nvPr/>
        </p:nvGrpSpPr>
        <p:grpSpPr bwMode="auto">
          <a:xfrm flipH="1">
            <a:off x="7623804" y="924300"/>
            <a:ext cx="3459377" cy="4467226"/>
            <a:chOff x="3453063" y="1901799"/>
            <a:chExt cx="585229" cy="761197"/>
          </a:xfrm>
          <a:solidFill>
            <a:schemeClr val="bg1">
              <a:alpha val="23000"/>
            </a:schemeClr>
          </a:solidFill>
        </p:grpSpPr>
        <p:grpSp>
          <p:nvGrpSpPr>
            <p:cNvPr id="37" name="Google Shape;1595;p43">
              <a:extLst>
                <a:ext uri="{FF2B5EF4-FFF2-40B4-BE49-F238E27FC236}">
                  <a16:creationId xmlns:a16="http://schemas.microsoft.com/office/drawing/2014/main" id="{506AB85D-397C-09A7-60AE-8D84AFE03B8B}"/>
                </a:ext>
              </a:extLst>
            </p:cNvPr>
            <p:cNvGrpSpPr/>
            <p:nvPr/>
          </p:nvGrpSpPr>
          <p:grpSpPr bwMode="auto">
            <a:xfrm>
              <a:off x="3835096" y="1901799"/>
              <a:ext cx="203196" cy="352308"/>
              <a:chOff x="4112904" y="4944303"/>
              <a:chExt cx="107625" cy="186594"/>
            </a:xfrm>
            <a:grpFill/>
          </p:grpSpPr>
          <p:sp>
            <p:nvSpPr>
              <p:cNvPr id="43" name="Google Shape;1596;p43">
                <a:extLst>
                  <a:ext uri="{FF2B5EF4-FFF2-40B4-BE49-F238E27FC236}">
                    <a16:creationId xmlns:a16="http://schemas.microsoft.com/office/drawing/2014/main" id="{FB1ED098-5974-4A20-13A1-1109F90DC2F3}"/>
                  </a:ext>
                </a:extLst>
              </p:cNvPr>
              <p:cNvSpPr/>
              <p:nvPr/>
            </p:nvSpPr>
            <p:spPr bwMode="auto">
              <a:xfrm>
                <a:off x="4147997" y="5026174"/>
                <a:ext cx="26550" cy="892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3571" fill="none" extrusionOk="0">
                    <a:moveTo>
                      <a:pt x="1" y="3571"/>
                    </a:moveTo>
                    <a:lnTo>
                      <a:pt x="1" y="1594"/>
                    </a:lnTo>
                    <a:lnTo>
                      <a:pt x="1061" y="1594"/>
                    </a:lnTo>
                    <a:lnTo>
                      <a:pt x="1061" y="0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4" name="Google Shape;1597;p43">
                <a:extLst>
                  <a:ext uri="{FF2B5EF4-FFF2-40B4-BE49-F238E27FC236}">
                    <a16:creationId xmlns:a16="http://schemas.microsoft.com/office/drawing/2014/main" id="{A7EDD850-6126-BE43-7F02-A6A2926AA471}"/>
                  </a:ext>
                </a:extLst>
              </p:cNvPr>
              <p:cNvSpPr/>
              <p:nvPr/>
            </p:nvSpPr>
            <p:spPr bwMode="auto">
              <a:xfrm>
                <a:off x="4112904" y="4944303"/>
                <a:ext cx="1076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3683" extrusionOk="0">
                    <a:moveTo>
                      <a:pt x="2478" y="1"/>
                    </a:moveTo>
                    <a:cubicBezTo>
                      <a:pt x="2474" y="1"/>
                      <a:pt x="2470" y="1"/>
                      <a:pt x="2465" y="1"/>
                    </a:cubicBezTo>
                    <a:cubicBezTo>
                      <a:pt x="2462" y="1"/>
                      <a:pt x="2459" y="1"/>
                      <a:pt x="2456" y="1"/>
                    </a:cubicBezTo>
                    <a:cubicBezTo>
                      <a:pt x="818" y="1"/>
                      <a:pt x="1" y="1979"/>
                      <a:pt x="1160" y="3138"/>
                    </a:cubicBezTo>
                    <a:cubicBezTo>
                      <a:pt x="1535" y="3514"/>
                      <a:pt x="1997" y="3682"/>
                      <a:pt x="2450" y="3682"/>
                    </a:cubicBezTo>
                    <a:cubicBezTo>
                      <a:pt x="3397" y="3682"/>
                      <a:pt x="4304" y="2948"/>
                      <a:pt x="4304" y="1840"/>
                    </a:cubicBezTo>
                    <a:cubicBezTo>
                      <a:pt x="4304" y="828"/>
                      <a:pt x="3489" y="1"/>
                      <a:pt x="247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5" name="Google Shape;1598;p43">
                <a:extLst>
                  <a:ext uri="{FF2B5EF4-FFF2-40B4-BE49-F238E27FC236}">
                    <a16:creationId xmlns:a16="http://schemas.microsoft.com/office/drawing/2014/main" id="{1EE8EB29-C13C-F656-E67F-21A7FF9FC334}"/>
                  </a:ext>
                </a:extLst>
              </p:cNvPr>
              <p:cNvSpPr/>
              <p:nvPr/>
            </p:nvSpPr>
            <p:spPr bwMode="auto">
              <a:xfrm>
                <a:off x="4130942" y="5102849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1" y="0"/>
                    </a:moveTo>
                    <a:cubicBezTo>
                      <a:pt x="547" y="0"/>
                      <a:pt x="420" y="46"/>
                      <a:pt x="318" y="149"/>
                    </a:cubicBezTo>
                    <a:cubicBezTo>
                      <a:pt x="0" y="467"/>
                      <a:pt x="224" y="1007"/>
                      <a:pt x="671" y="1007"/>
                    </a:cubicBezTo>
                    <a:cubicBezTo>
                      <a:pt x="952" y="1007"/>
                      <a:pt x="1176" y="784"/>
                      <a:pt x="1176" y="503"/>
                    </a:cubicBezTo>
                    <a:cubicBezTo>
                      <a:pt x="1176" y="200"/>
                      <a:pt x="929" y="0"/>
                      <a:pt x="67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6" name="Google Shape;1599;p43">
                <a:extLst>
                  <a:ext uri="{FF2B5EF4-FFF2-40B4-BE49-F238E27FC236}">
                    <a16:creationId xmlns:a16="http://schemas.microsoft.com/office/drawing/2014/main" id="{A152B585-0C83-D5FC-530E-CC1F5E5F90AD}"/>
                  </a:ext>
                </a:extLst>
              </p:cNvPr>
              <p:cNvSpPr/>
              <p:nvPr/>
            </p:nvSpPr>
            <p:spPr bwMode="auto">
              <a:xfrm>
                <a:off x="4127452" y="5100097"/>
                <a:ext cx="359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2" extrusionOk="0">
                    <a:moveTo>
                      <a:pt x="823" y="224"/>
                    </a:moveTo>
                    <a:cubicBezTo>
                      <a:pt x="1169" y="224"/>
                      <a:pt x="1342" y="650"/>
                      <a:pt x="1097" y="895"/>
                    </a:cubicBezTo>
                    <a:cubicBezTo>
                      <a:pt x="1018" y="974"/>
                      <a:pt x="921" y="1010"/>
                      <a:pt x="825" y="1010"/>
                    </a:cubicBezTo>
                    <a:cubicBezTo>
                      <a:pt x="625" y="1010"/>
                      <a:pt x="433" y="853"/>
                      <a:pt x="433" y="614"/>
                    </a:cubicBezTo>
                    <a:cubicBezTo>
                      <a:pt x="433" y="404"/>
                      <a:pt x="607" y="224"/>
                      <a:pt x="823" y="224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64"/>
                      <a:pt x="390" y="1054"/>
                    </a:cubicBezTo>
                    <a:cubicBezTo>
                      <a:pt x="515" y="1176"/>
                      <a:pt x="668" y="1231"/>
                      <a:pt x="818" y="1231"/>
                    </a:cubicBezTo>
                    <a:cubicBezTo>
                      <a:pt x="1134" y="1231"/>
                      <a:pt x="1436" y="986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  <p:grpSp>
          <p:nvGrpSpPr>
            <p:cNvPr id="38" name="Google Shape;1600;p43">
              <a:extLst>
                <a:ext uri="{FF2B5EF4-FFF2-40B4-BE49-F238E27FC236}">
                  <a16:creationId xmlns:a16="http://schemas.microsoft.com/office/drawing/2014/main" id="{A8D581BD-4C51-30AE-3DE4-67D37210D066}"/>
                </a:ext>
              </a:extLst>
            </p:cNvPr>
            <p:cNvGrpSpPr/>
            <p:nvPr/>
          </p:nvGrpSpPr>
          <p:grpSpPr bwMode="auto">
            <a:xfrm>
              <a:off x="3453063" y="2295487"/>
              <a:ext cx="203290" cy="367509"/>
              <a:chOff x="3910556" y="5228145"/>
              <a:chExt cx="107675" cy="194645"/>
            </a:xfrm>
            <a:grpFill/>
          </p:grpSpPr>
          <p:sp>
            <p:nvSpPr>
              <p:cNvPr id="39" name="Google Shape;1601;p43">
                <a:extLst>
                  <a:ext uri="{FF2B5EF4-FFF2-40B4-BE49-F238E27FC236}">
                    <a16:creationId xmlns:a16="http://schemas.microsoft.com/office/drawing/2014/main" id="{B03A6C83-040B-D924-69EC-E4A96166149E}"/>
                  </a:ext>
                </a:extLst>
              </p:cNvPr>
              <p:cNvSpPr/>
              <p:nvPr/>
            </p:nvSpPr>
            <p:spPr bwMode="auto">
              <a:xfrm>
                <a:off x="3941556" y="5243290"/>
                <a:ext cx="2835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3990" fill="none" extrusionOk="0">
                    <a:moveTo>
                      <a:pt x="1" y="1"/>
                    </a:moveTo>
                    <a:lnTo>
                      <a:pt x="1" y="1898"/>
                    </a:lnTo>
                    <a:lnTo>
                      <a:pt x="1133" y="1898"/>
                    </a:lnTo>
                    <a:lnTo>
                      <a:pt x="1133" y="3989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0" name="Google Shape;1602;p43">
                <a:extLst>
                  <a:ext uri="{FF2B5EF4-FFF2-40B4-BE49-F238E27FC236}">
                    <a16:creationId xmlns:a16="http://schemas.microsoft.com/office/drawing/2014/main" id="{5AEB694B-7625-09A6-4038-7124D3B0E44B}"/>
                  </a:ext>
                </a:extLst>
              </p:cNvPr>
              <p:cNvSpPr/>
              <p:nvPr/>
            </p:nvSpPr>
            <p:spPr bwMode="auto">
              <a:xfrm>
                <a:off x="3910556" y="5330565"/>
                <a:ext cx="1076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689" extrusionOk="0">
                    <a:moveTo>
                      <a:pt x="2460" y="1"/>
                    </a:moveTo>
                    <a:cubicBezTo>
                      <a:pt x="822" y="1"/>
                      <a:pt x="0" y="1984"/>
                      <a:pt x="1161" y="3145"/>
                    </a:cubicBezTo>
                    <a:cubicBezTo>
                      <a:pt x="1535" y="3521"/>
                      <a:pt x="1994" y="3689"/>
                      <a:pt x="2446" y="3689"/>
                    </a:cubicBezTo>
                    <a:cubicBezTo>
                      <a:pt x="3391" y="3689"/>
                      <a:pt x="4301" y="2953"/>
                      <a:pt x="4306" y="1840"/>
                    </a:cubicBezTo>
                    <a:cubicBezTo>
                      <a:pt x="4306" y="823"/>
                      <a:pt x="3477" y="1"/>
                      <a:pt x="246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1" name="Google Shape;1603;p43">
                <a:extLst>
                  <a:ext uri="{FF2B5EF4-FFF2-40B4-BE49-F238E27FC236}">
                    <a16:creationId xmlns:a16="http://schemas.microsoft.com/office/drawing/2014/main" id="{8D788DE9-5525-38F8-1A91-FB86CFB60BFA}"/>
                  </a:ext>
                </a:extLst>
              </p:cNvPr>
              <p:cNvSpPr/>
              <p:nvPr/>
            </p:nvSpPr>
            <p:spPr bwMode="auto">
              <a:xfrm>
                <a:off x="3924806" y="523074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0" y="1"/>
                    </a:moveTo>
                    <a:cubicBezTo>
                      <a:pt x="547" y="1"/>
                      <a:pt x="420" y="47"/>
                      <a:pt x="317" y="149"/>
                    </a:cubicBezTo>
                    <a:cubicBezTo>
                      <a:pt x="0" y="467"/>
                      <a:pt x="224" y="1008"/>
                      <a:pt x="671" y="1008"/>
                    </a:cubicBezTo>
                    <a:cubicBezTo>
                      <a:pt x="952" y="1008"/>
                      <a:pt x="1176" y="777"/>
                      <a:pt x="1176" y="503"/>
                    </a:cubicBezTo>
                    <a:cubicBezTo>
                      <a:pt x="1176" y="201"/>
                      <a:pt x="929" y="1"/>
                      <a:pt x="67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  <p:sp>
            <p:nvSpPr>
              <p:cNvPr id="42" name="Google Shape;1604;p43">
                <a:extLst>
                  <a:ext uri="{FF2B5EF4-FFF2-40B4-BE49-F238E27FC236}">
                    <a16:creationId xmlns:a16="http://schemas.microsoft.com/office/drawing/2014/main" id="{D4B2B0AE-7266-D532-C8DD-95A7CB40C3E2}"/>
                  </a:ext>
                </a:extLst>
              </p:cNvPr>
              <p:cNvSpPr/>
              <p:nvPr/>
            </p:nvSpPr>
            <p:spPr bwMode="auto">
              <a:xfrm>
                <a:off x="3921007" y="5228145"/>
                <a:ext cx="3590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229" extrusionOk="0">
                    <a:moveTo>
                      <a:pt x="823" y="225"/>
                    </a:moveTo>
                    <a:cubicBezTo>
                      <a:pt x="1169" y="225"/>
                      <a:pt x="1349" y="643"/>
                      <a:pt x="1104" y="888"/>
                    </a:cubicBezTo>
                    <a:cubicBezTo>
                      <a:pt x="1022" y="968"/>
                      <a:pt x="923" y="1003"/>
                      <a:pt x="826" y="1003"/>
                    </a:cubicBezTo>
                    <a:cubicBezTo>
                      <a:pt x="625" y="1003"/>
                      <a:pt x="433" y="848"/>
                      <a:pt x="433" y="614"/>
                    </a:cubicBezTo>
                    <a:cubicBezTo>
                      <a:pt x="433" y="398"/>
                      <a:pt x="606" y="225"/>
                      <a:pt x="823" y="225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57"/>
                      <a:pt x="390" y="1047"/>
                    </a:cubicBezTo>
                    <a:cubicBezTo>
                      <a:pt x="516" y="1172"/>
                      <a:pt x="669" y="1228"/>
                      <a:pt x="819" y="1228"/>
                    </a:cubicBezTo>
                    <a:cubicBezTo>
                      <a:pt x="1134" y="1228"/>
                      <a:pt x="1436" y="981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defRPr/>
                </a:pPr>
                <a:endParaRPr sz="2400"/>
              </a:p>
            </p:txBody>
          </p:sp>
        </p:grpSp>
      </p:grpSp>
      <p:pic>
        <p:nvPicPr>
          <p:cNvPr id="50" name="Рисунок 44">
            <a:extLst>
              <a:ext uri="{FF2B5EF4-FFF2-40B4-BE49-F238E27FC236}">
                <a16:creationId xmlns:a16="http://schemas.microsoft.com/office/drawing/2014/main" id="{F87AB1EE-DB98-61E2-D168-62C1C49BB1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26510" y="1117900"/>
            <a:ext cx="633051" cy="633051"/>
          </a:xfrm>
          <a:prstGeom prst="rect">
            <a:avLst/>
          </a:prstGeom>
        </p:spPr>
      </p:pic>
      <p:pic>
        <p:nvPicPr>
          <p:cNvPr id="52" name="Рисунок 44">
            <a:extLst>
              <a:ext uri="{FF2B5EF4-FFF2-40B4-BE49-F238E27FC236}">
                <a16:creationId xmlns:a16="http://schemas.microsoft.com/office/drawing/2014/main" id="{C0B3C04F-F5D5-A64C-E24B-A3182A8C9B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84285" y="4577510"/>
            <a:ext cx="633051" cy="633051"/>
          </a:xfrm>
          <a:prstGeom prst="rect">
            <a:avLst/>
          </a:prstGeom>
        </p:spPr>
      </p:pic>
      <p:sp>
        <p:nvSpPr>
          <p:cNvPr id="19" name="Текст 6">
            <a:extLst>
              <a:ext uri="{FF2B5EF4-FFF2-40B4-BE49-F238E27FC236}">
                <a16:creationId xmlns:a16="http://schemas.microsoft.com/office/drawing/2014/main" id="{518E4801-863C-BA30-2C5C-002A8D93F843}"/>
              </a:ext>
            </a:extLst>
          </p:cNvPr>
          <p:cNvSpPr txBox="1">
            <a:spLocks/>
          </p:cNvSpPr>
          <p:nvPr/>
        </p:nvSpPr>
        <p:spPr bwMode="auto">
          <a:xfrm>
            <a:off x="328355" y="1071473"/>
            <a:ext cx="5575300" cy="4937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Чтобы не разворачивать огромные модели, можно в вычислитель каждого поезда загрузить карту его маршрута, чтобы он мог отслеживать свое местоположение.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При приближении к повороту дальность обнаружения в алгоритме пропорционально снижается до допустимого минимума, а по завершении поворота – наоборот пропорционально увеличивается</a:t>
            </a:r>
          </a:p>
        </p:txBody>
      </p:sp>
    </p:spTree>
    <p:extLst>
      <p:ext uri="{BB962C8B-B14F-4D97-AF65-F5344CB8AC3E}">
        <p14:creationId xmlns:p14="http://schemas.microsoft.com/office/powerpoint/2010/main" val="2111324641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1522</TotalTime>
  <Words>651</Words>
  <Application>Microsoft Office PowerPoint</Application>
  <PresentationFormat>Широкоэкранный</PresentationFormat>
  <Paragraphs>92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Montserrat</vt:lpstr>
      <vt:lpstr>Wingdings</vt:lpstr>
      <vt:lpstr>Для Академия инноваторов 16_9</vt:lpstr>
      <vt:lpstr>КОМАНДА «ЯЩИК»</vt:lpstr>
      <vt:lpstr>КОМАНДА «ЯЩИК»</vt:lpstr>
      <vt:lpstr>КОМАНДА «ЯЩИК»</vt:lpstr>
      <vt:lpstr>КОМАНДА «ЯЩИК»</vt:lpstr>
      <vt:lpstr>КОРОТКО О РЕШЕНИИ</vt:lpstr>
      <vt:lpstr>Динамическая настройка дальности</vt:lpstr>
      <vt:lpstr>Динамическая настройка дальности при помощи системы камер</vt:lpstr>
      <vt:lpstr>Система камер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Salim Asanov</cp:lastModifiedBy>
  <cp:revision>103</cp:revision>
  <dcterms:created xsi:type="dcterms:W3CDTF">2023-05-15T07:36:23Z</dcterms:created>
  <dcterms:modified xsi:type="dcterms:W3CDTF">2026-09-29T19:49:42Z</dcterms:modified>
</cp:coreProperties>
</file>