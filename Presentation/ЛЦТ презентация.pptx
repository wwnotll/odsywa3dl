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62" r:id="rId2"/>
    <p:sldId id="263" r:id="rId3"/>
    <p:sldId id="264" r:id="rId4"/>
    <p:sldId id="265" r:id="rId5"/>
    <p:sldId id="266" r:id="rId6"/>
    <p:sldId id="256" r:id="rId7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49"/>
    <p:restoredTop sz="94710"/>
  </p:normalViewPr>
  <p:slideViewPr>
    <p:cSldViewPr snapToGrid="0" showGuides="1">
      <p:cViewPr varScale="1">
        <p:scale>
          <a:sx n="105" d="100"/>
          <a:sy n="105" d="100"/>
        </p:scale>
        <p:origin x="654" y="96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29.09.2026</a:t>
            </a:fld>
            <a:endParaRPr lang="ru-RU"/>
          </a:p>
        </p:txBody>
      </p:sp>
      <p:sp>
        <p:nvSpPr>
          <p:cNvPr id="1008376219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9B8682-549C-E1BB-F508-D1525C1FC77B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99260-C65D-4A5C-3C37-B22449FEC14D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C47A06-960F-983E-3E35-94F51F621FF5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29.09.2026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29.09.2026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29.09.2026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29.09.2026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29.09.2026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29.09.2026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29.09.2026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29.09.2026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29.09.2026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29.09.2026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29.09.2026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29.09.2026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29.09.2026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29.09.2026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29.09.2026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2492746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322562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24083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600426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760992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710853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49188184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968598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590395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0288170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29.09.2026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29.09.2026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29.09.2026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29.09.2026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3" Type="http://schemas.openxmlformats.org/officeDocument/2006/relationships/image" Target="../media/image1.pn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7033845" cy="1706743"/>
          </a:xfrm>
        </p:spPr>
        <p:txBody>
          <a:bodyPr/>
          <a:lstStyle/>
          <a:p>
            <a:pPr marL="268288" indent="0">
              <a:defRPr/>
            </a:pPr>
            <a:r>
              <a:rPr lang="ru-RU" sz="4800" dirty="0"/>
              <a:t>КОМАНДА «ЯЩИК»</a:t>
            </a:r>
          </a:p>
        </p:txBody>
      </p:sp>
      <p:sp>
        <p:nvSpPr>
          <p:cNvPr id="1636791008" name="Рисунок 3"/>
          <p:cNvSpPr>
            <a:spLocks noGrp="1"/>
          </p:cNvSpPr>
          <p:nvPr>
            <p:ph type="pic" sz="quarter" idx="11"/>
          </p:nvPr>
        </p:nvSpPr>
        <p:spPr bwMode="auto">
          <a:xfrm>
            <a:off x="305186" y="329801"/>
            <a:ext cx="5193299" cy="1082589"/>
          </a:xfrm>
        </p:spPr>
      </p:sp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9553903" cy="757174"/>
          </a:xfrm>
        </p:spPr>
        <p:txBody>
          <a:bodyPr anchor="ctr">
            <a:normAutofit fontScale="92500" lnSpcReduction="20000"/>
          </a:bodyPr>
          <a:lstStyle/>
          <a:p>
            <a:pPr indent="268288">
              <a:lnSpc>
                <a:spcPct val="150000"/>
              </a:lnSpc>
              <a:defRPr/>
            </a:pPr>
            <a:r>
              <a:rPr lang="ru-RU" dirty="0"/>
              <a:t>Задача №5: Система обнаружения посторонних объектов для беспилотных</a:t>
            </a:r>
            <a:r>
              <a:rPr lang="en-US" dirty="0"/>
              <a:t> </a:t>
            </a:r>
            <a:r>
              <a:rPr lang="ru-RU" dirty="0" err="1"/>
              <a:t>ㅤ</a:t>
            </a:r>
            <a:r>
              <a:rPr lang="ru-RU" dirty="0"/>
              <a:t> </a:t>
            </a:r>
            <a:r>
              <a:rPr lang="ru-RU" dirty="0" err="1"/>
              <a:t>ㅤ</a:t>
            </a:r>
            <a:r>
              <a:rPr lang="ru-RU" dirty="0"/>
              <a:t> </a:t>
            </a:r>
            <a:r>
              <a:rPr lang="ru-RU" dirty="0" err="1"/>
              <a:t>ㅤ</a:t>
            </a:r>
            <a:r>
              <a:rPr lang="ru-RU" dirty="0"/>
              <a:t> поездов в тоннеле метро по данным 3D-лидара</a:t>
            </a:r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2" name="Image 2" descr=" ">
            <a:extLst>
              <a:ext uri="{FF2B5EF4-FFF2-40B4-BE49-F238E27FC236}">
                <a16:creationId xmlns:a16="http://schemas.microsoft.com/office/drawing/2014/main" id="{B5976F71-3DFE-CF12-EECD-FE8F6274B63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30424" y="620302"/>
            <a:ext cx="1835141" cy="5015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098921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1609484257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</p:sp>
      <p:sp>
        <p:nvSpPr>
          <p:cNvPr id="114360025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441518184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Простота реализации относительно сложных нейросетей</a:t>
            </a:r>
            <a:endParaRPr dirty="0"/>
          </a:p>
        </p:txBody>
      </p:sp>
      <p:sp>
        <p:nvSpPr>
          <p:cNvPr id="661119785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spcBef>
                <a:spcPts val="0"/>
              </a:spcBef>
              <a:defRPr/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Асанов Салим Тимурович, специалист систем управления ЛА.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en-US" dirty="0">
                <a:solidFill>
                  <a:schemeClr val="tx1"/>
                </a:solidFill>
              </a:rPr>
              <a:t>5</a:t>
            </a:r>
            <a:r>
              <a:rPr lang="ru-RU" dirty="0">
                <a:solidFill>
                  <a:schemeClr val="tx1"/>
                </a:solidFill>
              </a:rPr>
              <a:t> человек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r>
              <a:rPr lang="ru-RU" dirty="0">
                <a:solidFill>
                  <a:schemeClr val="tx1"/>
                </a:solidFill>
              </a:rPr>
              <a:t>Дружная команда студентов Московского Авиационного Института и их друзей.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ru-RU" dirty="0">
                <a:solidFill>
                  <a:schemeClr val="tx1"/>
                </a:solidFill>
              </a:rPr>
              <a:t>Москва</a:t>
            </a:r>
            <a:endParaRPr dirty="0"/>
          </a:p>
        </p:txBody>
      </p:sp>
      <p:sp>
        <p:nvSpPr>
          <p:cNvPr id="648121520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328740113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 sz="2400" dirty="0">
                <a:solidFill>
                  <a:schemeClr val="accent5"/>
                </a:solidFill>
                <a:latin typeface="Montserrat"/>
              </a:rPr>
              <a:t>КОМАНДА</a:t>
            </a:r>
            <a:br>
              <a:rPr lang="ru-RU" sz="2400" dirty="0">
                <a:solidFill>
                  <a:schemeClr val="accent5"/>
                </a:solidFill>
                <a:latin typeface="Montserrat"/>
              </a:rPr>
            </a:br>
            <a:r>
              <a:rPr lang="ru-RU" sz="2400" dirty="0">
                <a:solidFill>
                  <a:schemeClr val="accent5"/>
                </a:solidFill>
                <a:latin typeface="Montserrat"/>
              </a:rPr>
              <a:t>«ЯЩИК»</a:t>
            </a:r>
          </a:p>
        </p:txBody>
      </p:sp>
      <p:cxnSp>
        <p:nvCxnSpPr>
          <p:cNvPr id="147895407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16552124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3118490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0361934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075761414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Все, что вписывается в контур поезда и отличается от пустого тоннеля является препятствием</a:t>
            </a:r>
            <a:endParaRPr dirty="0"/>
          </a:p>
        </p:txBody>
      </p:sp>
      <p:sp>
        <p:nvSpPr>
          <p:cNvPr id="2108767591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2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445992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0223453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ML </a:t>
            </a:r>
            <a:r>
              <a:rPr lang="en-US" sz="1200" dirty="0" err="1">
                <a:solidFill>
                  <a:schemeClr val="tx1"/>
                </a:solidFill>
              </a:rPr>
              <a:t>Engeneer</a:t>
            </a:r>
            <a:endParaRPr lang="en-US" sz="1200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en" sz="1200" dirty="0">
                <a:solidFill>
                  <a:schemeClr val="tx1"/>
                </a:solidFill>
              </a:rPr>
              <a:t>@k_y_3_m_u_n </a:t>
            </a:r>
            <a:endParaRPr lang="ru-RU" sz="1200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rgbClr val="00B050"/>
                </a:solidFill>
              </a:rPr>
              <a:t>Номер телефона</a:t>
            </a: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МГТУ им.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ru-RU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  Н.Э. Баумана</a:t>
            </a:r>
          </a:p>
        </p:txBody>
      </p:sp>
      <p:sp>
        <p:nvSpPr>
          <p:cNvPr id="171774514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67261468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Разработчик робототехники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/>
            </a:pPr>
            <a:r>
              <a:rPr lang="en" sz="1200" dirty="0">
                <a:solidFill>
                  <a:schemeClr val="tx1"/>
                </a:solidFill>
              </a:rPr>
              <a:t>@ez_709 </a:t>
            </a:r>
            <a:endParaRPr lang="ru-RU" sz="1200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+79104940364</a:t>
            </a: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МАИ</a:t>
            </a:r>
            <a:endParaRPr dirty="0"/>
          </a:p>
        </p:txBody>
      </p:sp>
      <p:sp>
        <p:nvSpPr>
          <p:cNvPr id="789313918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Егор Журавлев</a:t>
            </a:r>
            <a:endParaRPr dirty="0"/>
          </a:p>
        </p:txBody>
      </p:sp>
      <p:sp>
        <p:nvSpPr>
          <p:cNvPr id="651037677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99875170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Разработчик ПО</a:t>
            </a:r>
          </a:p>
          <a:p>
            <a:pPr>
              <a:lnSpc>
                <a:spcPct val="110000"/>
              </a:lnSpc>
              <a:spcBef>
                <a:spcPts val="60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@DromoVed</a:t>
            </a:r>
          </a:p>
          <a:p>
            <a:pPr>
              <a:lnSpc>
                <a:spcPct val="11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+79165770933</a:t>
            </a:r>
          </a:p>
          <a:p>
            <a:pPr>
              <a:lnSpc>
                <a:spcPct val="11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МАИ</a:t>
            </a:r>
          </a:p>
          <a:p>
            <a:pPr>
              <a:lnSpc>
                <a:spcPct val="11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«Автономные технологии»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54387886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Михаил Кузнецов</a:t>
            </a:r>
            <a:endParaRPr dirty="0"/>
          </a:p>
        </p:txBody>
      </p:sp>
      <p:sp>
        <p:nvSpPr>
          <p:cNvPr id="2086725175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06280066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Системный аналитик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/>
            </a:pPr>
            <a:r>
              <a:rPr lang="en" sz="1200" dirty="0">
                <a:solidFill>
                  <a:schemeClr val="tx1"/>
                </a:solidFill>
              </a:rPr>
              <a:t>@Sergo_konsales </a:t>
            </a:r>
            <a:endParaRPr lang="ru-RU" sz="1200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rgbClr val="00B050"/>
                </a:solidFill>
              </a:rPr>
              <a:t>+79102043963</a:t>
            </a: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МАИ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456275104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Сергей Коновалов</a:t>
            </a:r>
            <a:endParaRPr dirty="0"/>
          </a:p>
        </p:txBody>
      </p:sp>
      <p:sp>
        <p:nvSpPr>
          <p:cNvPr id="48154554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19160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936958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</a:t>
            </a:fld>
            <a:endParaRPr lang="ru-RU">
              <a:solidFill>
                <a:schemeClr val="bg1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7B1635A-A5FA-2309-2021-373D627CBAED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55" b="4655"/>
          <a:stretch>
            <a:fillRect/>
          </a:stretch>
        </p:blipFill>
        <p:spPr bwMode="auto">
          <a:xfrm>
            <a:off x="2886075" y="1827213"/>
            <a:ext cx="1722438" cy="154146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BC65D6A-E373-9747-B24E-95DBE5FF4592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831" b="19831"/>
          <a:stretch>
            <a:fillRect/>
          </a:stretch>
        </p:blipFill>
        <p:spPr bwMode="auto">
          <a:xfrm>
            <a:off x="5191125" y="1809750"/>
            <a:ext cx="1722438" cy="155892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D318B1D-E649-2A76-2729-BEC853D44791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545" b="24545"/>
          <a:stretch>
            <a:fillRect/>
          </a:stretch>
        </p:blipFill>
        <p:spPr bwMode="auto">
          <a:xfrm>
            <a:off x="7519988" y="1809750"/>
            <a:ext cx="1722437" cy="155892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E4FFEDD-D057-D98A-FDF4-B71D6A884A7D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47" b="4747"/>
          <a:stretch>
            <a:fillRect/>
          </a:stretch>
        </p:blipFill>
        <p:spPr bwMode="auto">
          <a:xfrm>
            <a:off x="9802813" y="1809750"/>
            <a:ext cx="1722437" cy="1558925"/>
          </a:xfrm>
          <a:prstGeom prst="rect">
            <a:avLst/>
          </a:prstGeom>
        </p:spPr>
      </p:pic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>
                <a:latin typeface="Montserrat"/>
              </a:rPr>
              <a:t>КОМАНДА «ЯЩИК»</a:t>
            </a: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Капитан</a:t>
            </a:r>
            <a:endParaRPr dirty="0"/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en" sz="1200" dirty="0">
                <a:solidFill>
                  <a:schemeClr val="tx1"/>
                </a:solidFill>
              </a:rPr>
              <a:t>@</a:t>
            </a:r>
            <a:r>
              <a:rPr lang="en" sz="1200" dirty="0" err="1">
                <a:solidFill>
                  <a:schemeClr val="tx1"/>
                </a:solidFill>
              </a:rPr>
              <a:t>kukukuqq</a:t>
            </a:r>
            <a:r>
              <a:rPr lang="en" sz="1200" dirty="0">
                <a:solidFill>
                  <a:schemeClr val="tx1"/>
                </a:solidFill>
              </a:rPr>
              <a:t> </a:t>
            </a:r>
            <a:endParaRPr lang="ru-RU" sz="1200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+79624741230 </a:t>
            </a: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МАИ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800" b="1" dirty="0">
                <a:solidFill>
                  <a:schemeClr val="accent5"/>
                </a:solidFill>
              </a:rPr>
              <a:t>Салим Асанов </a:t>
            </a:r>
            <a:endParaRPr sz="1800" dirty="0"/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A654C947-6904-3736-0270-188C01B99109}"/>
              </a:ext>
            </a:extLst>
          </p:cNvPr>
          <p:cNvSpPr txBox="1"/>
          <p:nvPr/>
        </p:nvSpPr>
        <p:spPr bwMode="auto">
          <a:xfrm>
            <a:off x="2909572" y="3631245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Денис</a:t>
            </a:r>
          </a:p>
          <a:p>
            <a:pPr marL="0" indent="0">
              <a:spcBef>
                <a:spcPts val="0"/>
              </a:spcBef>
              <a:buNone/>
              <a:defRPr/>
            </a:pPr>
            <a:r>
              <a:rPr lang="ru-RU" sz="1600" b="1" dirty="0" err="1">
                <a:solidFill>
                  <a:schemeClr val="accent5"/>
                </a:solidFill>
              </a:rPr>
              <a:t>Кузьменок</a:t>
            </a:r>
            <a:endParaRPr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C6DB162-3849-6211-0C24-EDA9A1328B26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750" y="1878501"/>
            <a:ext cx="1550499" cy="1550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346075" y="324562"/>
            <a:ext cx="317770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>
                <a:latin typeface="Montserrat"/>
              </a:rPr>
              <a:t>КОМАНДА «ЯЩИК»</a:t>
            </a: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У нас команда друзей и друзей </a:t>
            </a:r>
            <a:r>
              <a:rPr lang="ru-RU" dirty="0" err="1">
                <a:solidFill>
                  <a:schemeClr val="tx1"/>
                </a:solidFill>
              </a:rPr>
              <a:t>друзей</a:t>
            </a:r>
            <a:r>
              <a:rPr lang="ru-RU" dirty="0">
                <a:solidFill>
                  <a:schemeClr val="tx1"/>
                </a:solidFill>
              </a:rPr>
              <a:t>, частично мы уже участвовали в конкурсах, например, «</a:t>
            </a:r>
            <a:r>
              <a:rPr lang="ru-RU" dirty="0" err="1">
                <a:solidFill>
                  <a:schemeClr val="tx1"/>
                </a:solidFill>
              </a:rPr>
              <a:t>Аэротон</a:t>
            </a:r>
            <a:r>
              <a:rPr lang="ru-RU" dirty="0">
                <a:solidFill>
                  <a:schemeClr val="tx1"/>
                </a:solidFill>
              </a:rPr>
              <a:t>», но в таком составе собрались впервые</a:t>
            </a:r>
            <a:endParaRPr dirty="0"/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Пожалуй, все участники конкурса столкнулись с общей проблемой – нехваткой данных для обучения, поэтому мы стали решать задачу </a:t>
            </a:r>
            <a:r>
              <a:rPr lang="ru-RU" dirty="0" err="1">
                <a:solidFill>
                  <a:schemeClr val="tx1"/>
                </a:solidFill>
              </a:rPr>
              <a:t>алгоритмическо</a:t>
            </a:r>
            <a:r>
              <a:rPr lang="ru-RU" dirty="0">
                <a:solidFill>
                  <a:schemeClr val="tx1"/>
                </a:solidFill>
              </a:rPr>
              <a:t>-геометрически</a:t>
            </a:r>
          </a:p>
          <a:p>
            <a:pPr marL="0" indent="0">
              <a:lnSpc>
                <a:spcPct val="100000"/>
              </a:lnSpc>
              <a:buNone/>
              <a:defRPr/>
            </a:pPr>
            <a:endParaRPr lang="ru-RU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И, конечно, достаточно сложно было совмещать учебу в вузе/написание диплома с работой и участием в конкурсе)))</a:t>
            </a:r>
            <a:endParaRPr dirty="0"/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Мы изучали базовые аспекты компьютерного зрения и машинного обучения в вузе и решили проверить, на что мы способны вне методичек</a:t>
            </a:r>
            <a:endParaRPr dirty="0"/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634285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44905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304619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701875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7821818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400" dirty="0">
                <a:solidFill>
                  <a:schemeClr val="tx1"/>
                </a:solidFill>
              </a:rPr>
              <a:t>Философия подхода</a:t>
            </a:r>
          </a:p>
          <a:p>
            <a:pPr>
              <a:defRPr/>
            </a:pPr>
            <a:r>
              <a:rPr lang="ru-RU" sz="1400" dirty="0">
                <a:solidFill>
                  <a:schemeClr val="tx1"/>
                </a:solidFill>
              </a:rPr>
              <a:t>Вместо того чтобы обучать нейросеть распознавать человека, ящик или кошку, мы пошли другим путем: научили систему распознавать «идеальный пустой тоннель». Алгоритм строит математическую модель пути и нормативных габаритов. Все, что вписывается в эту модель, игнорируется. Все, что выходит за ее рамки, считается препятствием. Это делает систему невероятно устойчивой к новым участкам тоннеля.</a:t>
            </a:r>
          </a:p>
          <a:p>
            <a:pPr>
              <a:defRPr/>
            </a:pPr>
            <a:endParaRPr lang="ru-RU" sz="14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1400" dirty="0">
                <a:solidFill>
                  <a:schemeClr val="tx1"/>
                </a:solidFill>
              </a:rPr>
              <a:t>Такое решение было принято в связи с тем, что из-за отсутствия размеченных данных обучить модель распознаванию очень сложно и, скорее всего, даже невозможно.</a:t>
            </a:r>
            <a:endParaRPr lang="ru-RU" dirty="0"/>
          </a:p>
        </p:txBody>
      </p:sp>
      <p:sp>
        <p:nvSpPr>
          <p:cNvPr id="3216555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ru-RU" sz="1400" dirty="0">
                <a:solidFill>
                  <a:schemeClr val="tx1"/>
                </a:solidFill>
              </a:rPr>
              <a:t>Учитывая физические особенности лидара и сложность съема лидарных данных с реальных маршрутов поездов, мы хотели бы предложить изменить подход к решению задачи: </a:t>
            </a:r>
          </a:p>
          <a:p>
            <a:pPr>
              <a:defRPr/>
            </a:pPr>
            <a:r>
              <a:rPr lang="ru-RU" sz="1400" dirty="0">
                <a:solidFill>
                  <a:schemeClr val="tx1"/>
                </a:solidFill>
              </a:rPr>
              <a:t>Мы получили, что решение работает практически со 100% точностью (на основании имеющихся данных) на всех участках только на расстоянии порядка 30 м . Поэтому можно попробовать настроить динамический выбор дальности обнаружения: если участок прямой – дальность обнаружения больше, если приближаемся к повороту – уменьшаем дальность обнаружение, на повороте – дальность обнаружения минимальна. Такой подход должен минимизировать количество ложных срабатываний и пропусков препятствий.</a:t>
            </a:r>
          </a:p>
          <a:p>
            <a:pPr>
              <a:defRPr/>
            </a:pPr>
            <a:r>
              <a:rPr lang="ru-RU" sz="1400" dirty="0">
                <a:solidFill>
                  <a:schemeClr val="tx1"/>
                </a:solidFill>
              </a:rPr>
              <a:t>Чтобы не разворачивать огромные модели, можно в вычислитель каждого поезда загрузить карту его маршрута, чтобы он мог отслеживать свое местоположение</a:t>
            </a:r>
          </a:p>
          <a:p>
            <a:pPr>
              <a:defRPr/>
            </a:pPr>
            <a:r>
              <a:rPr lang="ru-RU" sz="1400" dirty="0">
                <a:solidFill>
                  <a:schemeClr val="tx1"/>
                </a:solidFill>
              </a:rPr>
              <a:t>Чтобы повысить вероятность обнаружения препятствия за поворотом, можно добавить систему камер, которые будут расположены по всей длине тоннеля и детектировать препятствия и подавать команды на снижение скорости поезда</a:t>
            </a:r>
          </a:p>
        </p:txBody>
      </p:sp>
      <p:sp>
        <p:nvSpPr>
          <p:cNvPr id="6075001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213983632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  <a:endParaRPr dirty="0"/>
          </a:p>
        </p:txBody>
      </p:sp>
      <p:sp>
        <p:nvSpPr>
          <p:cNvPr id="87825378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  <a:endParaRPr dirty="0"/>
          </a:p>
          <a:p>
            <a:pPr>
              <a:lnSpc>
                <a:spcPct val="100000"/>
              </a:lnSpc>
              <a:defRPr/>
            </a:pPr>
            <a:endParaRPr lang="ru-RU" b="1" dirty="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5683076" name="Номер слайда 2"/>
          <p:cNvSpPr>
            <a:spLocks noGrp="1"/>
          </p:cNvSpPr>
          <p:nvPr>
            <p:ph type="sldNum" sz="quarter" idx="4"/>
          </p:nvPr>
        </p:nvSpPr>
        <p:spPr bwMode="auto">
          <a:xfrm>
            <a:off x="11418327" y="6356362"/>
            <a:ext cx="702819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1437</TotalTime>
  <Words>552</Words>
  <Application>Microsoft Office PowerPoint</Application>
  <PresentationFormat>Широкоэкранный</PresentationFormat>
  <Paragraphs>75</Paragraphs>
  <Slides>6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1" baseType="lpstr">
      <vt:lpstr>Arial</vt:lpstr>
      <vt:lpstr>Calibri</vt:lpstr>
      <vt:lpstr>Montserrat</vt:lpstr>
      <vt:lpstr>Wingdings</vt:lpstr>
      <vt:lpstr>Для Академия инноваторов 16_9</vt:lpstr>
      <vt:lpstr>КОМАНДА «ЯЩИК»</vt:lpstr>
      <vt:lpstr>КОМАНДА «ЯЩИК»</vt:lpstr>
      <vt:lpstr>КОМАНДА «ЯЩИК»</vt:lpstr>
      <vt:lpstr>КОМАНДА «ЯЩИК»</vt:lpstr>
      <vt:lpstr>КОРОТКО О РЕШЕНИИ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Salim Asanov</cp:lastModifiedBy>
  <cp:revision>99</cp:revision>
  <dcterms:created xsi:type="dcterms:W3CDTF">2023-05-15T07:36:23Z</dcterms:created>
  <dcterms:modified xsi:type="dcterms:W3CDTF">2026-09-29T11:21:25Z</dcterms:modified>
</cp:coreProperties>
</file>